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 today I'll be presenting my project, the Linux Security Log Analyzer. It's a Python-based command-line tool I built to automatically scan Linux SSH authentication logs, detect suspicious login activity, and generate a clean, structured security report. I'll walk through the problem it solves, how it works under the hood, a live demo of the output, and where I plan to take it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Linux server that exposes SSH is a target for brute-force login attempts — bots constantly try usernames and passwords hoping to get in. The raw log files that record this activity are large, plain-text, and genuinely painful to read manually. My objective with this project was to automate that process: parse the log, pull out the important signals — failed attempts, source IPs, usernames, timestamps — and flag any IP address that crosses a suspicious threshold, which by default is five or more failed attempts. The end result is a structured report the admin can read in seconds instead of scrolling through thousands of log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covers the core workflow an admin actually needs. It detects every failed SSH login attempt in the log, extracts the source IP and the username that was tried, and timestamps each event. It then scores IP addresses by how many times they've failed — by default, five or more failed attempts marks an IP as suspicious. Beyond that, it picks up broader SSH security events plus generic errors and warnings in the log, and rolls everything into one structured report. It's all driven from the command line with a simple interactive menu, and the codebase is split into modular components rather than one big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written in pure Python 3 with no heavy external dependencies — it relies on the built-in `re` module for regular-expression log parsing, `argparse` for command-line input, and standard file handling. The codebase is split into three modules: main.py runs the CLI menu, log_analyzer.py does the actual log parsing and threat detection, and report_generator.py builds the final report. On the right you can see the data flow: a raw Linux authentication log goes into the Log Analyzer, which performs the security analysis — counting failed attempts per IP against the suspicious threshold — and hands that off to the Report Generator, which produces the final structured Security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it running. The repo ships with a sample authentication log, so you can try it out immediately with `python main.py --log sample_auth.log`. That launches an interactive menu with three options. I'll select option 1 to analyze the log file — this is the point where log_analyzer.py takes over, using regular expressions to scan every line of the log, pull out failed SSH login events, and extract the IP address, the username that was attempted, and the timestamp for each one. [Show the analyzer.png screenshot here and briefly narrate what's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Selecting option 2 generates the full security report. In the sample data, there are 8 total failed attempts across three IP addresses. One of them, 192.168.1.50, is responsible for six of those eight attempts, so it crosses the suspicious threshold and gets flagged automatically. The full report goes further than this summary — it also lists failed-login timestamps, SSH security events, and any errors or warnings found in the log. [Show the security-report-summary.png and security-report-details.png screenshots here and walk through the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real challenges came up while building this. Log formats aren't perfectly uniform, so getting the regex patterns robust enough to reliably pull out IPs, usernames, and timestamps took iteration against varied sample lines. I also had to think carefully about false positives — one failed login is normal, so I added a configurable threshold, five attempts by default, before an IP gets flagged as suspicious. And to keep the project maintainable as it grew, I split the analysis logic and the report-generation logic into separate modules rather than one monolithic script. [This slide is a starting point — swap in the specific challenges you personally ran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there's a clear roadmap for where this project can grow. The biggest jump would be real-time monitoring — tailing the log live instead of analyzing a static file after the fact — paired with automatic email alerts when a suspicious IP is detected. I'd also like to support additional Linux log formats beyond SSH auth logs, add CSV and JSON export so the report can feed into other tools, layer in IP geolocation to see where attacks are coming from, and eventually build a simple graphical dashboard on top of the existing analysis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project delivers a genuinely useful, working tool — a modular Python application that turns raw, unreadable Linux authentication logs into a structured, actionable security report. Building it let me practice regex-based text parsing, file handling, command-line application design, and security-focused logic like threshold-based threat scoring. It started as a portfolio and learning project, and I've laid out a clear, realistic roadmap for where it can go next. Thank you —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863840" y="548640"/>
            <a:ext cx="3749040" cy="0"/>
          </a:xfrm>
          <a:prstGeom prst="line">
            <a:avLst/>
          </a:prstGeom>
          <a:noFill/>
          <a:ln w="12700">
            <a:solidFill>
              <a:srgbClr val="1C2E3F"/>
            </a:solidFill>
            <a:prstDash val="solid"/>
          </a:ln>
        </p:spPr>
      </p:sp>
      <p:sp>
        <p:nvSpPr>
          <p:cNvPr id="3" name="Shape 1"/>
          <p:cNvSpPr/>
          <p:nvPr/>
        </p:nvSpPr>
        <p:spPr>
          <a:xfrm>
            <a:off x="7863840" y="804672"/>
            <a:ext cx="3749040" cy="0"/>
          </a:xfrm>
          <a:prstGeom prst="line">
            <a:avLst/>
          </a:prstGeom>
          <a:noFill/>
          <a:ln w="12700">
            <a:solidFill>
              <a:srgbClr val="1C2E3F"/>
            </a:solidFill>
            <a:prstDash val="solid"/>
          </a:ln>
        </p:spPr>
      </p:sp>
      <p:sp>
        <p:nvSpPr>
          <p:cNvPr id="4" name="Shape 2"/>
          <p:cNvSpPr/>
          <p:nvPr/>
        </p:nvSpPr>
        <p:spPr>
          <a:xfrm>
            <a:off x="7863840" y="1060704"/>
            <a:ext cx="3749040" cy="0"/>
          </a:xfrm>
          <a:prstGeom prst="line">
            <a:avLst/>
          </a:prstGeom>
          <a:noFill/>
          <a:ln w="12700">
            <a:solidFill>
              <a:srgbClr val="1C2E3F"/>
            </a:solidFill>
            <a:prstDash val="solid"/>
          </a:ln>
        </p:spPr>
      </p:sp>
      <p:sp>
        <p:nvSpPr>
          <p:cNvPr id="5" name="Shape 3"/>
          <p:cNvSpPr/>
          <p:nvPr/>
        </p:nvSpPr>
        <p:spPr>
          <a:xfrm>
            <a:off x="7863840" y="1316736"/>
            <a:ext cx="3749040" cy="0"/>
          </a:xfrm>
          <a:prstGeom prst="line">
            <a:avLst/>
          </a:prstGeom>
          <a:noFill/>
          <a:ln w="12700">
            <a:solidFill>
              <a:srgbClr val="1C2E3F"/>
            </a:solidFill>
            <a:prstDash val="solid"/>
          </a:ln>
        </p:spPr>
      </p:sp>
      <p:sp>
        <p:nvSpPr>
          <p:cNvPr id="6" name="Shape 4"/>
          <p:cNvSpPr/>
          <p:nvPr/>
        </p:nvSpPr>
        <p:spPr>
          <a:xfrm>
            <a:off x="7863840" y="1572768"/>
            <a:ext cx="3749040" cy="0"/>
          </a:xfrm>
          <a:prstGeom prst="line">
            <a:avLst/>
          </a:prstGeom>
          <a:noFill/>
          <a:ln w="12700">
            <a:solidFill>
              <a:srgbClr val="1C2E3F"/>
            </a:solidFill>
            <a:prstDash val="solid"/>
          </a:ln>
        </p:spPr>
      </p:sp>
      <p:sp>
        <p:nvSpPr>
          <p:cNvPr id="7" name="Shape 5"/>
          <p:cNvSpPr/>
          <p:nvPr/>
        </p:nvSpPr>
        <p:spPr>
          <a:xfrm>
            <a:off x="7863840" y="1828800"/>
            <a:ext cx="3749040" cy="0"/>
          </a:xfrm>
          <a:prstGeom prst="line">
            <a:avLst/>
          </a:prstGeom>
          <a:noFill/>
          <a:ln w="12700">
            <a:solidFill>
              <a:srgbClr val="1C2E3F"/>
            </a:solidFill>
            <a:prstDash val="solid"/>
          </a:ln>
        </p:spPr>
      </p:sp>
      <p:sp>
        <p:nvSpPr>
          <p:cNvPr id="8" name="Text 6"/>
          <p:cNvSpPr/>
          <p:nvPr/>
        </p:nvSpPr>
        <p:spPr>
          <a:xfrm>
            <a:off x="594360" y="502920"/>
            <a:ext cx="5486400" cy="320040"/>
          </a:xfrm>
          <a:prstGeom prst="rect">
            <a:avLst/>
          </a:prstGeom>
          <a:noFill/>
          <a:ln/>
        </p:spPr>
        <p:txBody>
          <a:bodyPr wrap="square" lIns="0" tIns="0" rIns="0" bIns="0" rtlCol="0" anchor="ctr"/>
          <a:lstStyle/>
          <a:p>
            <a:pPr indent="0" marL="0">
              <a:buNone/>
            </a:pPr>
            <a:r>
              <a:rPr lang="en-US" sz="1300" dirty="0">
                <a:solidFill>
                  <a:srgbClr val="2FBF71"/>
                </a:solidFill>
                <a:latin typeface="Courier New" pitchFamily="34" charset="0"/>
                <a:ea typeface="Courier New" pitchFamily="34" charset="-122"/>
                <a:cs typeface="Courier New" pitchFamily="34" charset="-120"/>
              </a:rPr>
              <a:t>~/var/log/auth.log</a:t>
            </a:r>
            <a:endParaRPr lang="en-US" sz="1300" dirty="0"/>
          </a:p>
        </p:txBody>
      </p:sp>
      <p:sp>
        <p:nvSpPr>
          <p:cNvPr id="9" name="Text 7"/>
          <p:cNvSpPr/>
          <p:nvPr/>
        </p:nvSpPr>
        <p:spPr>
          <a:xfrm>
            <a:off x="548640" y="2331720"/>
            <a:ext cx="10972800" cy="1188720"/>
          </a:xfrm>
          <a:prstGeom prst="rect">
            <a:avLst/>
          </a:prstGeom>
          <a:noFill/>
          <a:ln/>
        </p:spPr>
        <p:txBody>
          <a:bodyPr wrap="square" lIns="0" tIns="0" rIns="0" bIns="0" rtlCol="0" anchor="ctr"/>
          <a:lstStyle/>
          <a:p>
            <a:pPr indent="0" marL="0">
              <a:buNone/>
            </a:pPr>
            <a:r>
              <a:rPr lang="en-US" sz="4400" b="1" spc="50" kern="0" dirty="0">
                <a:solidFill>
                  <a:srgbClr val="FFFFFF"/>
                </a:solidFill>
                <a:latin typeface="Cambria" pitchFamily="34" charset="0"/>
                <a:ea typeface="Cambria" pitchFamily="34" charset="-122"/>
                <a:cs typeface="Cambria" pitchFamily="34" charset="-120"/>
              </a:rPr>
              <a:t>LINUX SECURITY LOG ANALYZER</a:t>
            </a:r>
            <a:endParaRPr lang="en-US" sz="4400" dirty="0"/>
          </a:p>
        </p:txBody>
      </p:sp>
      <p:sp>
        <p:nvSpPr>
          <p:cNvPr id="10" name="Text 8"/>
          <p:cNvSpPr/>
          <p:nvPr/>
        </p:nvSpPr>
        <p:spPr>
          <a:xfrm>
            <a:off x="566928" y="3337560"/>
            <a:ext cx="9601200" cy="822960"/>
          </a:xfrm>
          <a:prstGeom prst="rect">
            <a:avLst/>
          </a:prstGeom>
          <a:noFill/>
          <a:ln/>
        </p:spPr>
        <p:txBody>
          <a:bodyPr wrap="square" lIns="0" tIns="0" rIns="0" bIns="0" rtlCol="0" anchor="ctr"/>
          <a:lstStyle/>
          <a:p>
            <a:pPr indent="0" marL="0">
              <a:lnSpc>
                <a:spcPct val="125000"/>
              </a:lnSpc>
              <a:buNone/>
            </a:pPr>
            <a:r>
              <a:rPr lang="en-US" sz="1700" dirty="0">
                <a:solidFill>
                  <a:srgbClr val="C7D3D9"/>
                </a:solidFill>
                <a:latin typeface="Calibri" pitchFamily="34" charset="0"/>
                <a:ea typeface="Calibri" pitchFamily="34" charset="-122"/>
                <a:cs typeface="Calibri" pitchFamily="34" charset="-120"/>
              </a:rPr>
              <a:t>A Python CLI Tool for Detecting Suspicious SSH Activity</a:t>
            </a:r>
            <a:endParaRPr lang="en-US" sz="1700" dirty="0"/>
          </a:p>
          <a:p>
            <a:pPr indent="0" marL="0">
              <a:lnSpc>
                <a:spcPct val="125000"/>
              </a:lnSpc>
              <a:buNone/>
            </a:pPr>
            <a:r>
              <a:rPr lang="en-US" sz="1700" dirty="0">
                <a:solidFill>
                  <a:srgbClr val="C7D3D9"/>
                </a:solidFill>
                <a:latin typeface="Calibri" pitchFamily="34" charset="0"/>
                <a:ea typeface="Calibri" pitchFamily="34" charset="-122"/>
                <a:cs typeface="Calibri" pitchFamily="34" charset="-120"/>
              </a:rPr>
              <a:t>and Generating Structured Security Reports</a:t>
            </a:r>
            <a:endParaRPr lang="en-US" sz="1700" dirty="0"/>
          </a:p>
        </p:txBody>
      </p:sp>
      <p:sp>
        <p:nvSpPr>
          <p:cNvPr id="11" name="Text 9"/>
          <p:cNvSpPr/>
          <p:nvPr/>
        </p:nvSpPr>
        <p:spPr>
          <a:xfrm>
            <a:off x="566928" y="5806440"/>
            <a:ext cx="548640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 Venkata Dhanush</a:t>
            </a:r>
            <a:endParaRPr lang="en-US" sz="1300" dirty="0"/>
          </a:p>
          <a:p>
            <a:pPr indent="0" marL="0">
              <a:buNone/>
            </a:pPr>
            <a:r>
              <a:rPr lang="en-US" sz="1300" dirty="0">
                <a:solidFill>
                  <a:srgbClr val="8FA3AE"/>
                </a:solidFill>
                <a:latin typeface="Calibri" pitchFamily="34" charset="0"/>
                <a:ea typeface="Calibri" pitchFamily="34" charset="-122"/>
                <a:cs typeface="Calibri" pitchFamily="34" charset="-120"/>
              </a:rPr>
              <a:t>github.com/kanasanidhanush7-dev</a:t>
            </a:r>
            <a:endParaRPr lang="en-US" sz="1300" dirty="0"/>
          </a:p>
        </p:txBody>
      </p:sp>
      <p:sp>
        <p:nvSpPr>
          <p:cNvPr id="12" name="Shape 10"/>
          <p:cNvSpPr/>
          <p:nvPr/>
        </p:nvSpPr>
        <p:spPr>
          <a:xfrm>
            <a:off x="9509760" y="4892040"/>
            <a:ext cx="2103120" cy="1417320"/>
          </a:xfrm>
          <a:prstGeom prst="roundRect">
            <a:avLst>
              <a:gd name="adj" fmla="val 5161"/>
            </a:avLst>
          </a:prstGeom>
          <a:solidFill>
            <a:srgbClr val="16232E"/>
          </a:solidFill>
          <a:ln w="12700">
            <a:solidFill>
              <a:srgbClr val="223347"/>
            </a:solidFill>
            <a:prstDash val="solid"/>
          </a:ln>
        </p:spPr>
      </p:sp>
      <p:sp>
        <p:nvSpPr>
          <p:cNvPr id="13" name="Text 11"/>
          <p:cNvSpPr/>
          <p:nvPr/>
        </p:nvSpPr>
        <p:spPr>
          <a:xfrm>
            <a:off x="9646920" y="5029200"/>
            <a:ext cx="1874520" cy="1143000"/>
          </a:xfrm>
          <a:prstGeom prst="rect">
            <a:avLst/>
          </a:prstGeom>
          <a:noFill/>
          <a:ln/>
        </p:spPr>
        <p:txBody>
          <a:bodyPr wrap="square" lIns="0" tIns="0" rIns="0" bIns="0" rtlCol="0" anchor="ctr"/>
          <a:lstStyle/>
          <a:p>
            <a:pPr indent="0" marL="0">
              <a:buNone/>
            </a:pPr>
            <a:r>
              <a:rPr lang="en-US" sz="950" dirty="0">
                <a:solidFill>
                  <a:srgbClr val="AEE8C6"/>
                </a:solidFill>
                <a:latin typeface="Courier New" pitchFamily="34" charset="0"/>
                <a:ea typeface="Courier New" pitchFamily="34" charset="-122"/>
                <a:cs typeface="Courier New" pitchFamily="34" charset="-120"/>
              </a:rPr>
              <a:t>$ python main.py</a:t>
            </a:r>
            <a:endParaRPr lang="en-US" sz="950" dirty="0"/>
          </a:p>
          <a:p>
            <a:pPr indent="0" marL="0">
              <a:buNone/>
            </a:pPr>
            <a:r>
              <a:rPr lang="en-US" sz="950" dirty="0">
                <a:solidFill>
                  <a:srgbClr val="2FBF71"/>
                </a:solidFill>
                <a:latin typeface="Courier New" pitchFamily="34" charset="0"/>
                <a:ea typeface="Courier New" pitchFamily="34" charset="-122"/>
                <a:cs typeface="Courier New" pitchFamily="34" charset="-120"/>
              </a:rPr>
              <a:t>--log auth.log</a:t>
            </a:r>
            <a:endParaRPr lang="en-US" sz="950" dirty="0"/>
          </a:p>
          <a:p>
            <a:pPr indent="0" marL="0">
              <a:buNone/>
            </a:pPr>
            <a:r>
              <a:rPr lang="en-US" sz="950" dirty="0">
                <a:solidFill>
                  <a:srgbClr val="AEE8C6"/>
                </a:solidFill>
                <a:latin typeface="Courier New" pitchFamily="34" charset="0"/>
                <a:ea typeface="Courier New" pitchFamily="34" charset="-122"/>
                <a:cs typeface="Courier New" pitchFamily="34" charset="-120"/>
              </a:rPr>
              <a:t>&gt; 8 failed attempts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7315200" cy="274320"/>
          </a:xfrm>
          <a:prstGeom prst="rect">
            <a:avLst/>
          </a:prstGeom>
          <a:noFill/>
          <a:ln/>
        </p:spPr>
        <p:txBody>
          <a:bodyPr wrap="square" lIns="0" tIns="0" rIns="0" bIns="0" rtlCol="0" anchor="ctr"/>
          <a:lstStyle/>
          <a:p>
            <a:pPr indent="0" marL="0">
              <a:buNone/>
            </a:pPr>
            <a:r>
              <a:rPr lang="en-US" sz="1200" b="1" spc="200" kern="0" dirty="0">
                <a:solidFill>
                  <a:srgbClr val="1F8F53"/>
                </a:solidFill>
                <a:latin typeface="Calibri" pitchFamily="34" charset="0"/>
                <a:ea typeface="Calibri" pitchFamily="34" charset="-122"/>
                <a:cs typeface="Calibri" pitchFamily="34" charset="-120"/>
              </a:rPr>
              <a:t>WHY THIS PROJECT</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6232E"/>
                </a:solidFill>
                <a:latin typeface="Cambria" pitchFamily="34" charset="0"/>
                <a:ea typeface="Cambria" pitchFamily="34" charset="-122"/>
                <a:cs typeface="Cambria" pitchFamily="34" charset="-120"/>
              </a:rPr>
              <a:t>Problem Statement &amp; Objective</a:t>
            </a:r>
            <a:endParaRPr lang="en-US" sz="3200" dirty="0"/>
          </a:p>
        </p:txBody>
      </p:sp>
      <p:sp>
        <p:nvSpPr>
          <p:cNvPr id="4" name="Text 2"/>
          <p:cNvSpPr/>
          <p:nvPr/>
        </p:nvSpPr>
        <p:spPr>
          <a:xfrm>
            <a:off x="566928" y="1417320"/>
            <a:ext cx="4572000" cy="292608"/>
          </a:xfrm>
          <a:prstGeom prst="rect">
            <a:avLst/>
          </a:prstGeom>
          <a:noFill/>
          <a:ln/>
        </p:spPr>
        <p:txBody>
          <a:bodyPr wrap="square" lIns="0" tIns="0" rIns="0" bIns="0" rtlCol="0" anchor="ctr"/>
          <a:lstStyle/>
          <a:p>
            <a:pPr indent="0" marL="0">
              <a:buNone/>
            </a:pPr>
            <a:r>
              <a:rPr lang="en-US" sz="1200" b="1" spc="150" kern="0" dirty="0">
                <a:solidFill>
                  <a:srgbClr val="D64545"/>
                </a:solidFill>
                <a:latin typeface="Calibri" pitchFamily="34" charset="0"/>
                <a:ea typeface="Calibri" pitchFamily="34" charset="-122"/>
                <a:cs typeface="Calibri" pitchFamily="34" charset="-120"/>
              </a:rPr>
              <a:t>THE PROBLEM</a:t>
            </a:r>
            <a:endParaRPr lang="en-US" sz="1200" dirty="0"/>
          </a:p>
        </p:txBody>
      </p:sp>
      <p:sp>
        <p:nvSpPr>
          <p:cNvPr id="5" name="Text 3"/>
          <p:cNvSpPr/>
          <p:nvPr/>
        </p:nvSpPr>
        <p:spPr>
          <a:xfrm>
            <a:off x="566928" y="1783080"/>
            <a:ext cx="5212080" cy="41148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Linux servers exposed to SSH are constantly targeted by automated brute-force login attempts.</a:t>
            </a:r>
            <a:endParaRPr lang="en-US" sz="1350" dirty="0"/>
          </a:p>
          <a:p>
            <a:pPr marL="228600" indent="-228600">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Authentication logs (/var/log/auth.log) grow large and fast — manually scanning them for threats is slow and error-prone.</a:t>
            </a:r>
            <a:endParaRPr lang="en-US" sz="1350" dirty="0"/>
          </a:p>
          <a:p>
            <a:pPr marL="228600" indent="-228600">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Without tooling, admins can miss repeated failed logins from the same IP until it's too late.</a:t>
            </a:r>
            <a:endParaRPr lang="en-US" sz="1350" dirty="0"/>
          </a:p>
        </p:txBody>
      </p:sp>
      <p:sp>
        <p:nvSpPr>
          <p:cNvPr id="6" name="Text 4"/>
          <p:cNvSpPr/>
          <p:nvPr/>
        </p:nvSpPr>
        <p:spPr>
          <a:xfrm>
            <a:off x="6263640" y="1417320"/>
            <a:ext cx="4572000" cy="292608"/>
          </a:xfrm>
          <a:prstGeom prst="rect">
            <a:avLst/>
          </a:prstGeom>
          <a:noFill/>
          <a:ln/>
        </p:spPr>
        <p:txBody>
          <a:bodyPr wrap="square" lIns="0" tIns="0" rIns="0" bIns="0" rtlCol="0" anchor="ctr"/>
          <a:lstStyle/>
          <a:p>
            <a:pPr indent="0" marL="0">
              <a:buNone/>
            </a:pPr>
            <a:r>
              <a:rPr lang="en-US" sz="1200" b="1" spc="150" kern="0" dirty="0">
                <a:solidFill>
                  <a:srgbClr val="1F8F53"/>
                </a:solidFill>
                <a:latin typeface="Calibri" pitchFamily="34" charset="0"/>
                <a:ea typeface="Calibri" pitchFamily="34" charset="-122"/>
                <a:cs typeface="Calibri" pitchFamily="34" charset="-120"/>
              </a:rPr>
              <a:t>THE OBJECTIVE</a:t>
            </a:r>
            <a:endParaRPr lang="en-US" sz="1200" dirty="0"/>
          </a:p>
        </p:txBody>
      </p:sp>
      <p:sp>
        <p:nvSpPr>
          <p:cNvPr id="7" name="Text 5"/>
          <p:cNvSpPr/>
          <p:nvPr/>
        </p:nvSpPr>
        <p:spPr>
          <a:xfrm>
            <a:off x="6263640" y="1783080"/>
            <a:ext cx="5349240" cy="41148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Build a lightweight Python CLI tool that parses raw Linux authentication logs.</a:t>
            </a:r>
            <a:endParaRPr lang="en-US" sz="1350" dirty="0"/>
          </a:p>
          <a:p>
            <a:pPr marL="228600" indent="-228600">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Automatically extract failed SSH attempts, source IPs, usernames, and timestamps.</a:t>
            </a:r>
            <a:endParaRPr lang="en-US" sz="1350" dirty="0"/>
          </a:p>
          <a:p>
            <a:pPr marL="228600" indent="-228600">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Flag suspicious IP addresses using a configurable failed-attempt threshold.</a:t>
            </a:r>
            <a:endParaRPr lang="en-US" sz="1350" dirty="0"/>
          </a:p>
          <a:p>
            <a:pPr marL="228600" indent="-228600">
              <a:spcAft>
                <a:spcPts val="1200"/>
              </a:spcAft>
              <a:buSzPct val="100000"/>
              <a:buChar char="•"/>
            </a:pPr>
            <a:r>
              <a:rPr lang="en-US" sz="1350" dirty="0">
                <a:solidFill>
                  <a:srgbClr val="16232E"/>
                </a:solidFill>
                <a:latin typeface="Calibri" pitchFamily="34" charset="0"/>
                <a:ea typeface="Calibri" pitchFamily="34" charset="-122"/>
                <a:cs typeface="Calibri" pitchFamily="34" charset="-120"/>
              </a:rPr>
              <a:t>Generate a clear, structured security report an admin can act on immediately.</a:t>
            </a:r>
            <a:endParaRPr lang="en-US" sz="1350" dirty="0"/>
          </a:p>
        </p:txBody>
      </p:sp>
      <p:sp>
        <p:nvSpPr>
          <p:cNvPr id="8" name="Shape 6"/>
          <p:cNvSpPr/>
          <p:nvPr/>
        </p:nvSpPr>
        <p:spPr>
          <a:xfrm>
            <a:off x="5989320" y="1463040"/>
            <a:ext cx="0" cy="4206240"/>
          </a:xfrm>
          <a:prstGeom prst="line">
            <a:avLst/>
          </a:prstGeom>
          <a:noFill/>
          <a:ln w="12700">
            <a:solidFill>
              <a:srgbClr val="DCE4E2"/>
            </a:solidFill>
            <a:prstDash val="solid"/>
          </a:ln>
        </p:spPr>
      </p:sp>
      <p:sp>
        <p:nvSpPr>
          <p:cNvPr id="9" name="Shape 7"/>
          <p:cNvSpPr/>
          <p:nvPr/>
        </p:nvSpPr>
        <p:spPr>
          <a:xfrm>
            <a:off x="566928" y="5532120"/>
            <a:ext cx="11064240" cy="777240"/>
          </a:xfrm>
          <a:prstGeom prst="roundRect">
            <a:avLst>
              <a:gd name="adj" fmla="val 9412"/>
            </a:avLst>
          </a:prstGeom>
          <a:solidFill>
            <a:srgbClr val="F2F6F5"/>
          </a:solidFill>
          <a:ln w="12700">
            <a:solidFill>
              <a:srgbClr val="DCE4E2"/>
            </a:solidFill>
            <a:prstDash val="solid"/>
          </a:ln>
        </p:spPr>
      </p:sp>
      <p:sp>
        <p:nvSpPr>
          <p:cNvPr id="10" name="Text 8"/>
          <p:cNvSpPr/>
          <p:nvPr/>
        </p:nvSpPr>
        <p:spPr>
          <a:xfrm>
            <a:off x="822960" y="5532120"/>
            <a:ext cx="10515600" cy="777240"/>
          </a:xfrm>
          <a:prstGeom prst="rect">
            <a:avLst/>
          </a:prstGeom>
          <a:noFill/>
          <a:ln/>
        </p:spPr>
        <p:txBody>
          <a:bodyPr wrap="square" lIns="0" tIns="0" rIns="0" bIns="0" rtlCol="0" anchor="ctr"/>
          <a:lstStyle/>
          <a:p>
            <a:pPr indent="0" marL="0">
              <a:buNone/>
            </a:pPr>
            <a:r>
              <a:rPr lang="en-US" sz="1350" b="1" dirty="0">
                <a:solidFill>
                  <a:srgbClr val="1F8F53"/>
                </a:solidFill>
                <a:latin typeface="Calibri" pitchFamily="34" charset="0"/>
                <a:ea typeface="Calibri" pitchFamily="34" charset="-122"/>
                <a:cs typeface="Calibri" pitchFamily="34" charset="-120"/>
              </a:rPr>
              <a:t>Goal:  </a:t>
            </a:r>
            <a:pPr indent="0" marL="0">
              <a:buNone/>
            </a:pPr>
            <a:r>
              <a:rPr lang="en-US" sz="1350" dirty="0">
                <a:solidFill>
                  <a:srgbClr val="16232E"/>
                </a:solidFill>
                <a:latin typeface="Calibri" pitchFamily="34" charset="0"/>
                <a:ea typeface="Calibri" pitchFamily="34" charset="-122"/>
                <a:cs typeface="Calibri" pitchFamily="34" charset="-120"/>
              </a:rPr>
              <a:t>Turn raw, hard-to-read Linux auth logs into an actionable security report in seconds, not hours.</a:t>
            </a:r>
            <a:endParaRPr lang="en-US" sz="1350" dirty="0"/>
          </a:p>
        </p:txBody>
      </p:sp>
      <p:sp>
        <p:nvSpPr>
          <p:cNvPr id="11" name="Text 9"/>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Linux Security Log Analyzer</a:t>
            </a:r>
            <a:endParaRPr lang="en-US" sz="900" dirty="0"/>
          </a:p>
        </p:txBody>
      </p:sp>
      <p:sp>
        <p:nvSpPr>
          <p:cNvPr id="12" name="Text 10"/>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7315200" cy="274320"/>
          </a:xfrm>
          <a:prstGeom prst="rect">
            <a:avLst/>
          </a:prstGeom>
          <a:noFill/>
          <a:ln/>
        </p:spPr>
        <p:txBody>
          <a:bodyPr wrap="square" lIns="0" tIns="0" rIns="0" bIns="0" rtlCol="0" anchor="ctr"/>
          <a:lstStyle/>
          <a:p>
            <a:pPr indent="0" marL="0">
              <a:buNone/>
            </a:pPr>
            <a:r>
              <a:rPr lang="en-US" sz="1200" b="1" spc="200" kern="0" dirty="0">
                <a:solidFill>
                  <a:srgbClr val="1F8F53"/>
                </a:solidFill>
                <a:latin typeface="Calibri" pitchFamily="34" charset="0"/>
                <a:ea typeface="Calibri" pitchFamily="34" charset="-122"/>
                <a:cs typeface="Calibri" pitchFamily="34" charset="-120"/>
              </a:rPr>
              <a:t>WHAT IT DOES</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6232E"/>
                </a:solidFill>
                <a:latin typeface="Cambria" pitchFamily="34" charset="0"/>
                <a:ea typeface="Cambria" pitchFamily="34" charset="-122"/>
                <a:cs typeface="Cambria" pitchFamily="34" charset="-120"/>
              </a:rPr>
              <a:t>Key Features &amp; Scope</a:t>
            </a:r>
            <a:endParaRPr lang="en-US" sz="3200" dirty="0"/>
          </a:p>
        </p:txBody>
      </p:sp>
      <p:sp>
        <p:nvSpPr>
          <p:cNvPr id="4" name="Shape 2"/>
          <p:cNvSpPr/>
          <p:nvPr/>
        </p:nvSpPr>
        <p:spPr>
          <a:xfrm>
            <a:off x="566928" y="1554480"/>
            <a:ext cx="3538728" cy="1417320"/>
          </a:xfrm>
          <a:prstGeom prst="roundRect">
            <a:avLst>
              <a:gd name="adj" fmla="val 5161"/>
            </a:avLst>
          </a:prstGeom>
          <a:solidFill>
            <a:srgbClr val="F2F6F5"/>
          </a:solidFill>
          <a:ln w="12700">
            <a:solidFill>
              <a:srgbClr val="DCE4E2"/>
            </a:solidFill>
            <a:prstDash val="solid"/>
          </a:ln>
        </p:spPr>
      </p:sp>
      <p:sp>
        <p:nvSpPr>
          <p:cNvPr id="5" name="Shape 3"/>
          <p:cNvSpPr/>
          <p:nvPr/>
        </p:nvSpPr>
        <p:spPr>
          <a:xfrm>
            <a:off x="768096" y="1737360"/>
            <a:ext cx="365760" cy="365760"/>
          </a:xfrm>
          <a:prstGeom prst="ellipse">
            <a:avLst/>
          </a:prstGeom>
          <a:solidFill>
            <a:srgbClr val="2FBF71"/>
          </a:solidFill>
          <a:ln/>
        </p:spPr>
      </p:sp>
      <p:sp>
        <p:nvSpPr>
          <p:cNvPr id="6" name="Text 4"/>
          <p:cNvSpPr/>
          <p:nvPr/>
        </p:nvSpPr>
        <p:spPr>
          <a:xfrm>
            <a:off x="768096"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52728" y="1700784"/>
            <a:ext cx="2670048" cy="438912"/>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Failed Login Detection</a:t>
            </a:r>
            <a:endParaRPr lang="en-US" sz="1350" dirty="0"/>
          </a:p>
        </p:txBody>
      </p:sp>
      <p:sp>
        <p:nvSpPr>
          <p:cNvPr id="8" name="Text 6"/>
          <p:cNvSpPr/>
          <p:nvPr/>
        </p:nvSpPr>
        <p:spPr>
          <a:xfrm>
            <a:off x="768096" y="2176272"/>
            <a:ext cx="3136392" cy="731520"/>
          </a:xfrm>
          <a:prstGeom prst="rect">
            <a:avLst/>
          </a:prstGeom>
          <a:noFill/>
          <a:ln/>
        </p:spPr>
        <p:txBody>
          <a:bodyPr wrap="square" lIns="0" tIns="0" rIns="0" bIns="0" rtlCol="0" anchor="t"/>
          <a:lstStyle/>
          <a:p>
            <a:pPr indent="0" marL="0">
              <a:buNone/>
            </a:pPr>
            <a:r>
              <a:rPr lang="en-US" sz="1100" dirty="0">
                <a:solidFill>
                  <a:srgbClr val="5B6B79"/>
                </a:solidFill>
                <a:latin typeface="Calibri" pitchFamily="34" charset="0"/>
                <a:ea typeface="Calibri" pitchFamily="34" charset="-122"/>
                <a:cs typeface="Calibri" pitchFamily="34" charset="-120"/>
              </a:rPr>
              <a:t>Scans SSH auth logs and flags every failed login attempt.</a:t>
            </a:r>
            <a:endParaRPr lang="en-US" sz="1100" dirty="0"/>
          </a:p>
        </p:txBody>
      </p:sp>
      <p:sp>
        <p:nvSpPr>
          <p:cNvPr id="9" name="Shape 7"/>
          <p:cNvSpPr/>
          <p:nvPr/>
        </p:nvSpPr>
        <p:spPr>
          <a:xfrm>
            <a:off x="4325112" y="1554480"/>
            <a:ext cx="3538728" cy="1417320"/>
          </a:xfrm>
          <a:prstGeom prst="roundRect">
            <a:avLst>
              <a:gd name="adj" fmla="val 5161"/>
            </a:avLst>
          </a:prstGeom>
          <a:solidFill>
            <a:srgbClr val="F2F6F5"/>
          </a:solidFill>
          <a:ln w="12700">
            <a:solidFill>
              <a:srgbClr val="DCE4E2"/>
            </a:solidFill>
            <a:prstDash val="solid"/>
          </a:ln>
        </p:spPr>
      </p:sp>
      <p:sp>
        <p:nvSpPr>
          <p:cNvPr id="10" name="Shape 8"/>
          <p:cNvSpPr/>
          <p:nvPr/>
        </p:nvSpPr>
        <p:spPr>
          <a:xfrm>
            <a:off x="4526280" y="1737360"/>
            <a:ext cx="365760" cy="365760"/>
          </a:xfrm>
          <a:prstGeom prst="ellipse">
            <a:avLst/>
          </a:prstGeom>
          <a:solidFill>
            <a:srgbClr val="2FBF71"/>
          </a:solidFill>
          <a:ln/>
        </p:spPr>
      </p:sp>
      <p:sp>
        <p:nvSpPr>
          <p:cNvPr id="11" name="Text 9"/>
          <p:cNvSpPr/>
          <p:nvPr/>
        </p:nvSpPr>
        <p:spPr>
          <a:xfrm>
            <a:off x="4526280"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010912" y="1700784"/>
            <a:ext cx="2670048" cy="438912"/>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IP &amp; Username Extraction</a:t>
            </a:r>
            <a:endParaRPr lang="en-US" sz="1350" dirty="0"/>
          </a:p>
        </p:txBody>
      </p:sp>
      <p:sp>
        <p:nvSpPr>
          <p:cNvPr id="13" name="Text 11"/>
          <p:cNvSpPr/>
          <p:nvPr/>
        </p:nvSpPr>
        <p:spPr>
          <a:xfrm>
            <a:off x="4526280" y="2176272"/>
            <a:ext cx="3136392" cy="731520"/>
          </a:xfrm>
          <a:prstGeom prst="rect">
            <a:avLst/>
          </a:prstGeom>
          <a:noFill/>
          <a:ln/>
        </p:spPr>
        <p:txBody>
          <a:bodyPr wrap="square" lIns="0" tIns="0" rIns="0" bIns="0" rtlCol="0" anchor="t"/>
          <a:lstStyle/>
          <a:p>
            <a:pPr indent="0" marL="0">
              <a:buNone/>
            </a:pPr>
            <a:r>
              <a:rPr lang="en-US" sz="1100" dirty="0">
                <a:solidFill>
                  <a:srgbClr val="5B6B79"/>
                </a:solidFill>
                <a:latin typeface="Calibri" pitchFamily="34" charset="0"/>
                <a:ea typeface="Calibri" pitchFamily="34" charset="-122"/>
                <a:cs typeface="Calibri" pitchFamily="34" charset="-120"/>
              </a:rPr>
              <a:t>Pulls source IP addresses and attempted usernames from each event.</a:t>
            </a:r>
            <a:endParaRPr lang="en-US" sz="1100" dirty="0"/>
          </a:p>
        </p:txBody>
      </p:sp>
      <p:sp>
        <p:nvSpPr>
          <p:cNvPr id="14" name="Shape 12"/>
          <p:cNvSpPr/>
          <p:nvPr/>
        </p:nvSpPr>
        <p:spPr>
          <a:xfrm>
            <a:off x="8083296" y="1554480"/>
            <a:ext cx="3538728" cy="1417320"/>
          </a:xfrm>
          <a:prstGeom prst="roundRect">
            <a:avLst>
              <a:gd name="adj" fmla="val 5161"/>
            </a:avLst>
          </a:prstGeom>
          <a:solidFill>
            <a:srgbClr val="F2F6F5"/>
          </a:solidFill>
          <a:ln w="12700">
            <a:solidFill>
              <a:srgbClr val="DCE4E2"/>
            </a:solidFill>
            <a:prstDash val="solid"/>
          </a:ln>
        </p:spPr>
      </p:sp>
      <p:sp>
        <p:nvSpPr>
          <p:cNvPr id="15" name="Shape 13"/>
          <p:cNvSpPr/>
          <p:nvPr/>
        </p:nvSpPr>
        <p:spPr>
          <a:xfrm>
            <a:off x="8284464" y="1737360"/>
            <a:ext cx="365760" cy="365760"/>
          </a:xfrm>
          <a:prstGeom prst="ellipse">
            <a:avLst/>
          </a:prstGeom>
          <a:solidFill>
            <a:srgbClr val="2FBF71"/>
          </a:solidFill>
          <a:ln/>
        </p:spPr>
      </p:sp>
      <p:sp>
        <p:nvSpPr>
          <p:cNvPr id="16" name="Text 14"/>
          <p:cNvSpPr/>
          <p:nvPr/>
        </p:nvSpPr>
        <p:spPr>
          <a:xfrm>
            <a:off x="8284464"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769096" y="1700784"/>
            <a:ext cx="2670048" cy="438912"/>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Timestamp Tracking</a:t>
            </a:r>
            <a:endParaRPr lang="en-US" sz="1350" dirty="0"/>
          </a:p>
        </p:txBody>
      </p:sp>
      <p:sp>
        <p:nvSpPr>
          <p:cNvPr id="18" name="Text 16"/>
          <p:cNvSpPr/>
          <p:nvPr/>
        </p:nvSpPr>
        <p:spPr>
          <a:xfrm>
            <a:off x="8284464" y="2176272"/>
            <a:ext cx="3136392" cy="731520"/>
          </a:xfrm>
          <a:prstGeom prst="rect">
            <a:avLst/>
          </a:prstGeom>
          <a:noFill/>
          <a:ln/>
        </p:spPr>
        <p:txBody>
          <a:bodyPr wrap="square" lIns="0" tIns="0" rIns="0" bIns="0" rtlCol="0" anchor="t"/>
          <a:lstStyle/>
          <a:p>
            <a:pPr indent="0" marL="0">
              <a:buNone/>
            </a:pPr>
            <a:r>
              <a:rPr lang="en-US" sz="1100" dirty="0">
                <a:solidFill>
                  <a:srgbClr val="5B6B79"/>
                </a:solidFill>
                <a:latin typeface="Calibri" pitchFamily="34" charset="0"/>
                <a:ea typeface="Calibri" pitchFamily="34" charset="-122"/>
                <a:cs typeface="Calibri" pitchFamily="34" charset="-120"/>
              </a:rPr>
              <a:t>Extracts and logs the exact time of every failed attempt.</a:t>
            </a:r>
            <a:endParaRPr lang="en-US" sz="1100" dirty="0"/>
          </a:p>
        </p:txBody>
      </p:sp>
      <p:sp>
        <p:nvSpPr>
          <p:cNvPr id="19" name="Shape 17"/>
          <p:cNvSpPr/>
          <p:nvPr/>
        </p:nvSpPr>
        <p:spPr>
          <a:xfrm>
            <a:off x="566928" y="3172968"/>
            <a:ext cx="3538728" cy="1417320"/>
          </a:xfrm>
          <a:prstGeom prst="roundRect">
            <a:avLst>
              <a:gd name="adj" fmla="val 5161"/>
            </a:avLst>
          </a:prstGeom>
          <a:solidFill>
            <a:srgbClr val="F2F6F5"/>
          </a:solidFill>
          <a:ln w="12700">
            <a:solidFill>
              <a:srgbClr val="DCE4E2"/>
            </a:solidFill>
            <a:prstDash val="solid"/>
          </a:ln>
        </p:spPr>
      </p:sp>
      <p:sp>
        <p:nvSpPr>
          <p:cNvPr id="20" name="Shape 18"/>
          <p:cNvSpPr/>
          <p:nvPr/>
        </p:nvSpPr>
        <p:spPr>
          <a:xfrm>
            <a:off x="768096" y="3355848"/>
            <a:ext cx="365760" cy="365760"/>
          </a:xfrm>
          <a:prstGeom prst="ellipse">
            <a:avLst/>
          </a:prstGeom>
          <a:solidFill>
            <a:srgbClr val="2FBF71"/>
          </a:solidFill>
          <a:ln/>
        </p:spPr>
      </p:sp>
      <p:sp>
        <p:nvSpPr>
          <p:cNvPr id="21" name="Text 19"/>
          <p:cNvSpPr/>
          <p:nvPr/>
        </p:nvSpPr>
        <p:spPr>
          <a:xfrm>
            <a:off x="768096"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252728" y="3319272"/>
            <a:ext cx="2670048" cy="438912"/>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Suspicious IP Scoring</a:t>
            </a:r>
            <a:endParaRPr lang="en-US" sz="1350" dirty="0"/>
          </a:p>
        </p:txBody>
      </p:sp>
      <p:sp>
        <p:nvSpPr>
          <p:cNvPr id="23" name="Text 21"/>
          <p:cNvSpPr/>
          <p:nvPr/>
        </p:nvSpPr>
        <p:spPr>
          <a:xfrm>
            <a:off x="768096" y="3794760"/>
            <a:ext cx="3136392" cy="731520"/>
          </a:xfrm>
          <a:prstGeom prst="rect">
            <a:avLst/>
          </a:prstGeom>
          <a:noFill/>
          <a:ln/>
        </p:spPr>
        <p:txBody>
          <a:bodyPr wrap="square" lIns="0" tIns="0" rIns="0" bIns="0" rtlCol="0" anchor="t"/>
          <a:lstStyle/>
          <a:p>
            <a:pPr indent="0" marL="0">
              <a:buNone/>
            </a:pPr>
            <a:r>
              <a:rPr lang="en-US" sz="1100" dirty="0">
                <a:solidFill>
                  <a:srgbClr val="5B6B79"/>
                </a:solidFill>
                <a:latin typeface="Calibri" pitchFamily="34" charset="0"/>
                <a:ea typeface="Calibri" pitchFamily="34" charset="-122"/>
                <a:cs typeface="Calibri" pitchFamily="34" charset="-120"/>
              </a:rPr>
              <a:t>Counts attempts per IP and flags any IP at 5+ failures.</a:t>
            </a:r>
            <a:endParaRPr lang="en-US" sz="1100" dirty="0"/>
          </a:p>
        </p:txBody>
      </p:sp>
      <p:sp>
        <p:nvSpPr>
          <p:cNvPr id="24" name="Shape 22"/>
          <p:cNvSpPr/>
          <p:nvPr/>
        </p:nvSpPr>
        <p:spPr>
          <a:xfrm>
            <a:off x="4325112" y="3172968"/>
            <a:ext cx="3538728" cy="1417320"/>
          </a:xfrm>
          <a:prstGeom prst="roundRect">
            <a:avLst>
              <a:gd name="adj" fmla="val 5161"/>
            </a:avLst>
          </a:prstGeom>
          <a:solidFill>
            <a:srgbClr val="F2F6F5"/>
          </a:solidFill>
          <a:ln w="12700">
            <a:solidFill>
              <a:srgbClr val="DCE4E2"/>
            </a:solidFill>
            <a:prstDash val="solid"/>
          </a:ln>
        </p:spPr>
      </p:sp>
      <p:sp>
        <p:nvSpPr>
          <p:cNvPr id="25" name="Shape 23"/>
          <p:cNvSpPr/>
          <p:nvPr/>
        </p:nvSpPr>
        <p:spPr>
          <a:xfrm>
            <a:off x="4526280" y="3355848"/>
            <a:ext cx="365760" cy="365760"/>
          </a:xfrm>
          <a:prstGeom prst="ellipse">
            <a:avLst/>
          </a:prstGeom>
          <a:solidFill>
            <a:srgbClr val="2FBF71"/>
          </a:solidFill>
          <a:ln/>
        </p:spPr>
      </p:sp>
      <p:sp>
        <p:nvSpPr>
          <p:cNvPr id="26" name="Text 24"/>
          <p:cNvSpPr/>
          <p:nvPr/>
        </p:nvSpPr>
        <p:spPr>
          <a:xfrm>
            <a:off x="4526280"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5010912" y="3319272"/>
            <a:ext cx="2670048" cy="438912"/>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Event &amp; Error Detection</a:t>
            </a:r>
            <a:endParaRPr lang="en-US" sz="1350" dirty="0"/>
          </a:p>
        </p:txBody>
      </p:sp>
      <p:sp>
        <p:nvSpPr>
          <p:cNvPr id="28" name="Text 26"/>
          <p:cNvSpPr/>
          <p:nvPr/>
        </p:nvSpPr>
        <p:spPr>
          <a:xfrm>
            <a:off x="4526280" y="3794760"/>
            <a:ext cx="3136392" cy="731520"/>
          </a:xfrm>
          <a:prstGeom prst="rect">
            <a:avLst/>
          </a:prstGeom>
          <a:noFill/>
          <a:ln/>
        </p:spPr>
        <p:txBody>
          <a:bodyPr wrap="square" lIns="0" tIns="0" rIns="0" bIns="0" rtlCol="0" anchor="t"/>
          <a:lstStyle/>
          <a:p>
            <a:pPr indent="0" marL="0">
              <a:buNone/>
            </a:pPr>
            <a:r>
              <a:rPr lang="en-US" sz="1100" dirty="0">
                <a:solidFill>
                  <a:srgbClr val="5B6B79"/>
                </a:solidFill>
                <a:latin typeface="Calibri" pitchFamily="34" charset="0"/>
                <a:ea typeface="Calibri" pitchFamily="34" charset="-122"/>
                <a:cs typeface="Calibri" pitchFamily="34" charset="-120"/>
              </a:rPr>
              <a:t>Identifies SSH security events plus general log errors/warnings.</a:t>
            </a:r>
            <a:endParaRPr lang="en-US" sz="1100" dirty="0"/>
          </a:p>
        </p:txBody>
      </p:sp>
      <p:sp>
        <p:nvSpPr>
          <p:cNvPr id="29" name="Shape 27"/>
          <p:cNvSpPr/>
          <p:nvPr/>
        </p:nvSpPr>
        <p:spPr>
          <a:xfrm>
            <a:off x="8083296" y="3172968"/>
            <a:ext cx="3538728" cy="1417320"/>
          </a:xfrm>
          <a:prstGeom prst="roundRect">
            <a:avLst>
              <a:gd name="adj" fmla="val 5161"/>
            </a:avLst>
          </a:prstGeom>
          <a:solidFill>
            <a:srgbClr val="F2F6F5"/>
          </a:solidFill>
          <a:ln w="12700">
            <a:solidFill>
              <a:srgbClr val="DCE4E2"/>
            </a:solidFill>
            <a:prstDash val="solid"/>
          </a:ln>
        </p:spPr>
      </p:sp>
      <p:sp>
        <p:nvSpPr>
          <p:cNvPr id="30" name="Shape 28"/>
          <p:cNvSpPr/>
          <p:nvPr/>
        </p:nvSpPr>
        <p:spPr>
          <a:xfrm>
            <a:off x="8284464" y="3355848"/>
            <a:ext cx="365760" cy="365760"/>
          </a:xfrm>
          <a:prstGeom prst="ellipse">
            <a:avLst/>
          </a:prstGeom>
          <a:solidFill>
            <a:srgbClr val="2FBF71"/>
          </a:solidFill>
          <a:ln/>
        </p:spPr>
      </p:sp>
      <p:sp>
        <p:nvSpPr>
          <p:cNvPr id="31" name="Text 29"/>
          <p:cNvSpPr/>
          <p:nvPr/>
        </p:nvSpPr>
        <p:spPr>
          <a:xfrm>
            <a:off x="8284464"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8769096" y="3319272"/>
            <a:ext cx="2670048" cy="438912"/>
          </a:xfrm>
          <a:prstGeom prst="rect">
            <a:avLst/>
          </a:prstGeom>
          <a:noFill/>
          <a:ln/>
        </p:spPr>
        <p:txBody>
          <a:bodyPr wrap="square" lIns="0" tIns="0" rIns="0" bIns="0" rtlCol="0" anchor="ctr"/>
          <a:lstStyle/>
          <a:p>
            <a:pPr indent="0" marL="0">
              <a:buNone/>
            </a:pPr>
            <a:r>
              <a:rPr lang="en-US" sz="1350" b="1" dirty="0">
                <a:solidFill>
                  <a:srgbClr val="16232E"/>
                </a:solidFill>
                <a:latin typeface="Calibri" pitchFamily="34" charset="0"/>
                <a:ea typeface="Calibri" pitchFamily="34" charset="-122"/>
                <a:cs typeface="Calibri" pitchFamily="34" charset="-120"/>
              </a:rPr>
              <a:t>Structured Reporting</a:t>
            </a:r>
            <a:endParaRPr lang="en-US" sz="1350" dirty="0"/>
          </a:p>
        </p:txBody>
      </p:sp>
      <p:sp>
        <p:nvSpPr>
          <p:cNvPr id="33" name="Text 31"/>
          <p:cNvSpPr/>
          <p:nvPr/>
        </p:nvSpPr>
        <p:spPr>
          <a:xfrm>
            <a:off x="8284464" y="3794760"/>
            <a:ext cx="3136392" cy="731520"/>
          </a:xfrm>
          <a:prstGeom prst="rect">
            <a:avLst/>
          </a:prstGeom>
          <a:noFill/>
          <a:ln/>
        </p:spPr>
        <p:txBody>
          <a:bodyPr wrap="square" lIns="0" tIns="0" rIns="0" bIns="0" rtlCol="0" anchor="t"/>
          <a:lstStyle/>
          <a:p>
            <a:pPr indent="0" marL="0">
              <a:buNone/>
            </a:pPr>
            <a:r>
              <a:rPr lang="en-US" sz="1100" dirty="0">
                <a:solidFill>
                  <a:srgbClr val="5B6B79"/>
                </a:solidFill>
                <a:latin typeface="Calibri" pitchFamily="34" charset="0"/>
                <a:ea typeface="Calibri" pitchFamily="34" charset="-122"/>
                <a:cs typeface="Calibri" pitchFamily="34" charset="-120"/>
              </a:rPr>
              <a:t>Compiles findings into a clean, readable security report.</a:t>
            </a:r>
            <a:endParaRPr lang="en-US" sz="1100" dirty="0"/>
          </a:p>
        </p:txBody>
      </p:sp>
      <p:sp>
        <p:nvSpPr>
          <p:cNvPr id="34" name="Text 32"/>
          <p:cNvSpPr/>
          <p:nvPr/>
        </p:nvSpPr>
        <p:spPr>
          <a:xfrm>
            <a:off x="566928" y="6080760"/>
            <a:ext cx="11064240" cy="365760"/>
          </a:xfrm>
          <a:prstGeom prst="rect">
            <a:avLst/>
          </a:prstGeom>
          <a:noFill/>
          <a:ln/>
        </p:spPr>
        <p:txBody>
          <a:bodyPr wrap="square" lIns="0" tIns="0" rIns="0" bIns="0" rtlCol="0" anchor="ctr"/>
          <a:lstStyle/>
          <a:p>
            <a:pPr indent="0" marL="0">
              <a:buNone/>
            </a:pPr>
            <a:r>
              <a:rPr lang="en-US" sz="1150" i="1" dirty="0">
                <a:solidFill>
                  <a:srgbClr val="5B6B79"/>
                </a:solidFill>
                <a:latin typeface="Calibri" pitchFamily="34" charset="0"/>
                <a:ea typeface="Calibri" pitchFamily="34" charset="-122"/>
                <a:cs typeface="Calibri" pitchFamily="34" charset="-120"/>
              </a:rPr>
              <a:t>Also supports: CLI log-file input  •  modular Python architecture  •  menu-driven workflow</a:t>
            </a:r>
            <a:endParaRPr lang="en-US" sz="1150" dirty="0"/>
          </a:p>
        </p:txBody>
      </p:sp>
      <p:sp>
        <p:nvSpPr>
          <p:cNvPr id="35" name="Text 33"/>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Linux Security Log Analyzer</a:t>
            </a:r>
            <a:endParaRPr lang="en-US" sz="900" dirty="0"/>
          </a:p>
        </p:txBody>
      </p:sp>
      <p:sp>
        <p:nvSpPr>
          <p:cNvPr id="36" name="Text 34"/>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7315200" cy="274320"/>
          </a:xfrm>
          <a:prstGeom prst="rect">
            <a:avLst/>
          </a:prstGeom>
          <a:noFill/>
          <a:ln/>
        </p:spPr>
        <p:txBody>
          <a:bodyPr wrap="square" lIns="0" tIns="0" rIns="0" bIns="0" rtlCol="0" anchor="ctr"/>
          <a:lstStyle/>
          <a:p>
            <a:pPr indent="0" marL="0">
              <a:buNone/>
            </a:pPr>
            <a:r>
              <a:rPr lang="en-US" sz="1200" b="1" spc="200" kern="0" dirty="0">
                <a:solidFill>
                  <a:srgbClr val="1F8F53"/>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6232E"/>
                </a:solidFill>
                <a:latin typeface="Cambria" pitchFamily="34" charset="0"/>
                <a:ea typeface="Cambria" pitchFamily="34" charset="-122"/>
                <a:cs typeface="Cambria" pitchFamily="34" charset="-120"/>
              </a:rPr>
              <a:t>Tech Stack &amp; Architecture</a:t>
            </a:r>
            <a:endParaRPr lang="en-US" sz="3200" dirty="0"/>
          </a:p>
        </p:txBody>
      </p:sp>
      <p:sp>
        <p:nvSpPr>
          <p:cNvPr id="4" name="Text 2"/>
          <p:cNvSpPr/>
          <p:nvPr/>
        </p:nvSpPr>
        <p:spPr>
          <a:xfrm>
            <a:off x="566928" y="1417320"/>
            <a:ext cx="3657600" cy="292608"/>
          </a:xfrm>
          <a:prstGeom prst="rect">
            <a:avLst/>
          </a:prstGeom>
          <a:noFill/>
          <a:ln/>
        </p:spPr>
        <p:txBody>
          <a:bodyPr wrap="square" lIns="0" tIns="0" rIns="0" bIns="0" rtlCol="0" anchor="ctr"/>
          <a:lstStyle/>
          <a:p>
            <a:pPr indent="0" marL="0">
              <a:buNone/>
            </a:pPr>
            <a:r>
              <a:rPr lang="en-US" sz="1200" b="1" spc="150" kern="0" dirty="0">
                <a:solidFill>
                  <a:srgbClr val="1F8F53"/>
                </a:solidFill>
                <a:latin typeface="Calibri" pitchFamily="34" charset="0"/>
                <a:ea typeface="Calibri" pitchFamily="34" charset="-122"/>
                <a:cs typeface="Calibri" pitchFamily="34" charset="-120"/>
              </a:rPr>
              <a:t>TECH STACK</a:t>
            </a:r>
            <a:endParaRPr lang="en-US" sz="1200" dirty="0"/>
          </a:p>
        </p:txBody>
      </p:sp>
      <p:sp>
        <p:nvSpPr>
          <p:cNvPr id="5" name="Shape 3"/>
          <p:cNvSpPr/>
          <p:nvPr/>
        </p:nvSpPr>
        <p:spPr>
          <a:xfrm>
            <a:off x="566928" y="1810512"/>
            <a:ext cx="256032" cy="256032"/>
          </a:xfrm>
          <a:prstGeom prst="roundRect">
            <a:avLst>
              <a:gd name="adj" fmla="val 17857"/>
            </a:avLst>
          </a:prstGeom>
          <a:solidFill>
            <a:srgbClr val="2FBF71"/>
          </a:solidFill>
          <a:ln/>
        </p:spPr>
      </p:sp>
      <p:sp>
        <p:nvSpPr>
          <p:cNvPr id="6" name="Text 4"/>
          <p:cNvSpPr/>
          <p:nvPr/>
        </p:nvSpPr>
        <p:spPr>
          <a:xfrm>
            <a:off x="960120" y="1764792"/>
            <a:ext cx="3383280" cy="365760"/>
          </a:xfrm>
          <a:prstGeom prst="rect">
            <a:avLst/>
          </a:prstGeom>
          <a:noFill/>
          <a:ln/>
        </p:spPr>
        <p:txBody>
          <a:bodyPr wrap="square" lIns="0" tIns="0" rIns="0" bIns="0" rtlCol="0" anchor="ctr"/>
          <a:lstStyle/>
          <a:p>
            <a:pPr indent="0" marL="0">
              <a:buNone/>
            </a:pPr>
            <a:r>
              <a:rPr lang="en-US" sz="1300" dirty="0">
                <a:solidFill>
                  <a:srgbClr val="16232E"/>
                </a:solidFill>
                <a:latin typeface="Calibri" pitchFamily="34" charset="0"/>
                <a:ea typeface="Calibri" pitchFamily="34" charset="-122"/>
                <a:cs typeface="Calibri" pitchFamily="34" charset="-120"/>
              </a:rPr>
              <a:t>Python 3</a:t>
            </a:r>
            <a:endParaRPr lang="en-US" sz="1300" dirty="0"/>
          </a:p>
        </p:txBody>
      </p:sp>
      <p:sp>
        <p:nvSpPr>
          <p:cNvPr id="7" name="Shape 5"/>
          <p:cNvSpPr/>
          <p:nvPr/>
        </p:nvSpPr>
        <p:spPr>
          <a:xfrm>
            <a:off x="566928" y="2267712"/>
            <a:ext cx="256032" cy="256032"/>
          </a:xfrm>
          <a:prstGeom prst="roundRect">
            <a:avLst>
              <a:gd name="adj" fmla="val 17857"/>
            </a:avLst>
          </a:prstGeom>
          <a:solidFill>
            <a:srgbClr val="2FBF71"/>
          </a:solidFill>
          <a:ln/>
        </p:spPr>
      </p:sp>
      <p:sp>
        <p:nvSpPr>
          <p:cNvPr id="8" name="Text 6"/>
          <p:cNvSpPr/>
          <p:nvPr/>
        </p:nvSpPr>
        <p:spPr>
          <a:xfrm>
            <a:off x="960120" y="2221992"/>
            <a:ext cx="3383280" cy="365760"/>
          </a:xfrm>
          <a:prstGeom prst="rect">
            <a:avLst/>
          </a:prstGeom>
          <a:noFill/>
          <a:ln/>
        </p:spPr>
        <p:txBody>
          <a:bodyPr wrap="square" lIns="0" tIns="0" rIns="0" bIns="0" rtlCol="0" anchor="ctr"/>
          <a:lstStyle/>
          <a:p>
            <a:pPr indent="0" marL="0">
              <a:buNone/>
            </a:pPr>
            <a:r>
              <a:rPr lang="en-US" sz="1300" dirty="0">
                <a:solidFill>
                  <a:srgbClr val="16232E"/>
                </a:solidFill>
                <a:latin typeface="Calibri" pitchFamily="34" charset="0"/>
                <a:ea typeface="Calibri" pitchFamily="34" charset="-122"/>
                <a:cs typeface="Calibri" pitchFamily="34" charset="-120"/>
              </a:rPr>
              <a:t>Regular Expressions (re)</a:t>
            </a:r>
            <a:endParaRPr lang="en-US" sz="1300" dirty="0"/>
          </a:p>
        </p:txBody>
      </p:sp>
      <p:sp>
        <p:nvSpPr>
          <p:cNvPr id="9" name="Shape 7"/>
          <p:cNvSpPr/>
          <p:nvPr/>
        </p:nvSpPr>
        <p:spPr>
          <a:xfrm>
            <a:off x="566928" y="2724912"/>
            <a:ext cx="256032" cy="256032"/>
          </a:xfrm>
          <a:prstGeom prst="roundRect">
            <a:avLst>
              <a:gd name="adj" fmla="val 17857"/>
            </a:avLst>
          </a:prstGeom>
          <a:solidFill>
            <a:srgbClr val="2FBF71"/>
          </a:solidFill>
          <a:ln/>
        </p:spPr>
      </p:sp>
      <p:sp>
        <p:nvSpPr>
          <p:cNvPr id="10" name="Text 8"/>
          <p:cNvSpPr/>
          <p:nvPr/>
        </p:nvSpPr>
        <p:spPr>
          <a:xfrm>
            <a:off x="960120" y="2679192"/>
            <a:ext cx="3383280" cy="365760"/>
          </a:xfrm>
          <a:prstGeom prst="rect">
            <a:avLst/>
          </a:prstGeom>
          <a:noFill/>
          <a:ln/>
        </p:spPr>
        <p:txBody>
          <a:bodyPr wrap="square" lIns="0" tIns="0" rIns="0" bIns="0" rtlCol="0" anchor="ctr"/>
          <a:lstStyle/>
          <a:p>
            <a:pPr indent="0" marL="0">
              <a:buNone/>
            </a:pPr>
            <a:r>
              <a:rPr lang="en-US" sz="1300" dirty="0">
                <a:solidFill>
                  <a:srgbClr val="16232E"/>
                </a:solidFill>
                <a:latin typeface="Calibri" pitchFamily="34" charset="0"/>
                <a:ea typeface="Calibri" pitchFamily="34" charset="-122"/>
                <a:cs typeface="Calibri" pitchFamily="34" charset="-120"/>
              </a:rPr>
              <a:t>argparse (CLI input)</a:t>
            </a:r>
            <a:endParaRPr lang="en-US" sz="1300" dirty="0"/>
          </a:p>
        </p:txBody>
      </p:sp>
      <p:sp>
        <p:nvSpPr>
          <p:cNvPr id="11" name="Shape 9"/>
          <p:cNvSpPr/>
          <p:nvPr/>
        </p:nvSpPr>
        <p:spPr>
          <a:xfrm>
            <a:off x="566928" y="3182112"/>
            <a:ext cx="256032" cy="256032"/>
          </a:xfrm>
          <a:prstGeom prst="roundRect">
            <a:avLst>
              <a:gd name="adj" fmla="val 17857"/>
            </a:avLst>
          </a:prstGeom>
          <a:solidFill>
            <a:srgbClr val="2FBF71"/>
          </a:solidFill>
          <a:ln/>
        </p:spPr>
      </p:sp>
      <p:sp>
        <p:nvSpPr>
          <p:cNvPr id="12" name="Text 10"/>
          <p:cNvSpPr/>
          <p:nvPr/>
        </p:nvSpPr>
        <p:spPr>
          <a:xfrm>
            <a:off x="960120" y="3136392"/>
            <a:ext cx="3383280" cy="365760"/>
          </a:xfrm>
          <a:prstGeom prst="rect">
            <a:avLst/>
          </a:prstGeom>
          <a:noFill/>
          <a:ln/>
        </p:spPr>
        <p:txBody>
          <a:bodyPr wrap="square" lIns="0" tIns="0" rIns="0" bIns="0" rtlCol="0" anchor="ctr"/>
          <a:lstStyle/>
          <a:p>
            <a:pPr indent="0" marL="0">
              <a:buNone/>
            </a:pPr>
            <a:r>
              <a:rPr lang="en-US" sz="1300" dirty="0">
                <a:solidFill>
                  <a:srgbClr val="16232E"/>
                </a:solidFill>
                <a:latin typeface="Calibri" pitchFamily="34" charset="0"/>
                <a:ea typeface="Calibri" pitchFamily="34" charset="-122"/>
                <a:cs typeface="Calibri" pitchFamily="34" charset="-120"/>
              </a:rPr>
              <a:t>File Handling / I-O</a:t>
            </a:r>
            <a:endParaRPr lang="en-US" sz="1300" dirty="0"/>
          </a:p>
        </p:txBody>
      </p:sp>
      <p:sp>
        <p:nvSpPr>
          <p:cNvPr id="13" name="Shape 11"/>
          <p:cNvSpPr/>
          <p:nvPr/>
        </p:nvSpPr>
        <p:spPr>
          <a:xfrm>
            <a:off x="566928" y="3639312"/>
            <a:ext cx="256032" cy="256032"/>
          </a:xfrm>
          <a:prstGeom prst="roundRect">
            <a:avLst>
              <a:gd name="adj" fmla="val 17857"/>
            </a:avLst>
          </a:prstGeom>
          <a:solidFill>
            <a:srgbClr val="2FBF71"/>
          </a:solidFill>
          <a:ln/>
        </p:spPr>
      </p:sp>
      <p:sp>
        <p:nvSpPr>
          <p:cNvPr id="14" name="Text 12"/>
          <p:cNvSpPr/>
          <p:nvPr/>
        </p:nvSpPr>
        <p:spPr>
          <a:xfrm>
            <a:off x="960120" y="3593592"/>
            <a:ext cx="3383280" cy="365760"/>
          </a:xfrm>
          <a:prstGeom prst="rect">
            <a:avLst/>
          </a:prstGeom>
          <a:noFill/>
          <a:ln/>
        </p:spPr>
        <p:txBody>
          <a:bodyPr wrap="square" lIns="0" tIns="0" rIns="0" bIns="0" rtlCol="0" anchor="ctr"/>
          <a:lstStyle/>
          <a:p>
            <a:pPr indent="0" marL="0">
              <a:buNone/>
            </a:pPr>
            <a:r>
              <a:rPr lang="en-US" sz="1300" dirty="0">
                <a:solidFill>
                  <a:srgbClr val="16232E"/>
                </a:solidFill>
                <a:latin typeface="Calibri" pitchFamily="34" charset="0"/>
                <a:ea typeface="Calibri" pitchFamily="34" charset="-122"/>
                <a:cs typeface="Calibri" pitchFamily="34" charset="-120"/>
              </a:rPr>
              <a:t>Lists &amp; Dictionaries</a:t>
            </a:r>
            <a:endParaRPr lang="en-US" sz="1300" dirty="0"/>
          </a:p>
        </p:txBody>
      </p:sp>
      <p:sp>
        <p:nvSpPr>
          <p:cNvPr id="15" name="Shape 13"/>
          <p:cNvSpPr/>
          <p:nvPr/>
        </p:nvSpPr>
        <p:spPr>
          <a:xfrm>
            <a:off x="566928" y="4096512"/>
            <a:ext cx="256032" cy="256032"/>
          </a:xfrm>
          <a:prstGeom prst="roundRect">
            <a:avLst>
              <a:gd name="adj" fmla="val 17857"/>
            </a:avLst>
          </a:prstGeom>
          <a:solidFill>
            <a:srgbClr val="2FBF71"/>
          </a:solidFill>
          <a:ln/>
        </p:spPr>
      </p:sp>
      <p:sp>
        <p:nvSpPr>
          <p:cNvPr id="16" name="Text 14"/>
          <p:cNvSpPr/>
          <p:nvPr/>
        </p:nvSpPr>
        <p:spPr>
          <a:xfrm>
            <a:off x="960120" y="4050792"/>
            <a:ext cx="3383280" cy="365760"/>
          </a:xfrm>
          <a:prstGeom prst="rect">
            <a:avLst/>
          </a:prstGeom>
          <a:noFill/>
          <a:ln/>
        </p:spPr>
        <p:txBody>
          <a:bodyPr wrap="square" lIns="0" tIns="0" rIns="0" bIns="0" rtlCol="0" anchor="ctr"/>
          <a:lstStyle/>
          <a:p>
            <a:pPr indent="0" marL="0">
              <a:buNone/>
            </a:pPr>
            <a:r>
              <a:rPr lang="en-US" sz="1300" dirty="0">
                <a:solidFill>
                  <a:srgbClr val="16232E"/>
                </a:solidFill>
                <a:latin typeface="Calibri" pitchFamily="34" charset="0"/>
                <a:ea typeface="Calibri" pitchFamily="34" charset="-122"/>
                <a:cs typeface="Calibri" pitchFamily="34" charset="-120"/>
              </a:rPr>
              <a:t>Modular Functions</a:t>
            </a:r>
            <a:endParaRPr lang="en-US" sz="1300" dirty="0"/>
          </a:p>
        </p:txBody>
      </p:sp>
      <p:sp>
        <p:nvSpPr>
          <p:cNvPr id="17" name="Text 15"/>
          <p:cNvSpPr/>
          <p:nvPr/>
        </p:nvSpPr>
        <p:spPr>
          <a:xfrm>
            <a:off x="566928" y="4663440"/>
            <a:ext cx="3657600" cy="292608"/>
          </a:xfrm>
          <a:prstGeom prst="rect">
            <a:avLst/>
          </a:prstGeom>
          <a:noFill/>
          <a:ln/>
        </p:spPr>
        <p:txBody>
          <a:bodyPr wrap="square" lIns="0" tIns="0" rIns="0" bIns="0" rtlCol="0" anchor="ctr"/>
          <a:lstStyle/>
          <a:p>
            <a:pPr indent="0" marL="0">
              <a:buNone/>
            </a:pPr>
            <a:r>
              <a:rPr lang="en-US" sz="1200" b="1" spc="150" kern="0" dirty="0">
                <a:solidFill>
                  <a:srgbClr val="1F8F53"/>
                </a:solidFill>
                <a:latin typeface="Calibri" pitchFamily="34" charset="0"/>
                <a:ea typeface="Calibri" pitchFamily="34" charset="-122"/>
                <a:cs typeface="Calibri" pitchFamily="34" charset="-120"/>
              </a:rPr>
              <a:t>PROJECT STRUCTURE</a:t>
            </a:r>
            <a:endParaRPr lang="en-US" sz="1200" dirty="0"/>
          </a:p>
        </p:txBody>
      </p:sp>
      <p:sp>
        <p:nvSpPr>
          <p:cNvPr id="18" name="Text 16"/>
          <p:cNvSpPr/>
          <p:nvPr/>
        </p:nvSpPr>
        <p:spPr>
          <a:xfrm>
            <a:off x="566928" y="4983480"/>
            <a:ext cx="3931920" cy="822960"/>
          </a:xfrm>
          <a:prstGeom prst="rect">
            <a:avLst/>
          </a:prstGeom>
          <a:noFill/>
          <a:ln/>
        </p:spPr>
        <p:txBody>
          <a:bodyPr wrap="square" lIns="0" tIns="0" rIns="0" bIns="0" rtlCol="0" anchor="ctr"/>
          <a:lstStyle/>
          <a:p>
            <a:pPr indent="0" marL="0">
              <a:buNone/>
            </a:pPr>
            <a:r>
              <a:rPr lang="en-US" sz="1050" dirty="0">
                <a:solidFill>
                  <a:srgbClr val="5B6B79"/>
                </a:solidFill>
                <a:latin typeface="Courier New" pitchFamily="34" charset="0"/>
                <a:ea typeface="Courier New" pitchFamily="34" charset="-122"/>
                <a:cs typeface="Courier New" pitchFamily="34" charset="-120"/>
              </a:rPr>
              <a:t>main.py • log_analyzer.py • report_generator.py • sample_auth.log • screenshots/</a:t>
            </a:r>
            <a:endParaRPr lang="en-US" sz="1050" dirty="0"/>
          </a:p>
        </p:txBody>
      </p:sp>
      <p:sp>
        <p:nvSpPr>
          <p:cNvPr id="19" name="Text 17"/>
          <p:cNvSpPr/>
          <p:nvPr/>
        </p:nvSpPr>
        <p:spPr>
          <a:xfrm>
            <a:off x="4892040" y="1417320"/>
            <a:ext cx="4572000" cy="292608"/>
          </a:xfrm>
          <a:prstGeom prst="rect">
            <a:avLst/>
          </a:prstGeom>
          <a:noFill/>
          <a:ln/>
        </p:spPr>
        <p:txBody>
          <a:bodyPr wrap="square" lIns="0" tIns="0" rIns="0" bIns="0" rtlCol="0" anchor="ctr"/>
          <a:lstStyle/>
          <a:p>
            <a:pPr indent="0" marL="0">
              <a:buNone/>
            </a:pPr>
            <a:r>
              <a:rPr lang="en-US" sz="1200" b="1" spc="150" kern="0" dirty="0">
                <a:solidFill>
                  <a:srgbClr val="1F8F53"/>
                </a:solidFill>
                <a:latin typeface="Calibri" pitchFamily="34" charset="0"/>
                <a:ea typeface="Calibri" pitchFamily="34" charset="-122"/>
                <a:cs typeface="Calibri" pitchFamily="34" charset="-120"/>
              </a:rPr>
              <a:t>HOW IT WORKS</a:t>
            </a:r>
            <a:endParaRPr lang="en-US" sz="1200" dirty="0"/>
          </a:p>
        </p:txBody>
      </p:sp>
      <p:sp>
        <p:nvSpPr>
          <p:cNvPr id="20" name="Shape 18"/>
          <p:cNvSpPr/>
          <p:nvPr/>
        </p:nvSpPr>
        <p:spPr>
          <a:xfrm>
            <a:off x="4892040" y="1828800"/>
            <a:ext cx="6309360" cy="658368"/>
          </a:xfrm>
          <a:prstGeom prst="roundRect">
            <a:avLst>
              <a:gd name="adj" fmla="val 11111"/>
            </a:avLst>
          </a:prstGeom>
          <a:solidFill>
            <a:srgbClr val="16232E"/>
          </a:solidFill>
          <a:ln w="12700">
            <a:solidFill>
              <a:srgbClr val="16232E"/>
            </a:solidFill>
            <a:prstDash val="solid"/>
          </a:ln>
        </p:spPr>
      </p:sp>
      <p:sp>
        <p:nvSpPr>
          <p:cNvPr id="21" name="Text 19"/>
          <p:cNvSpPr/>
          <p:nvPr/>
        </p:nvSpPr>
        <p:spPr>
          <a:xfrm>
            <a:off x="4892040" y="1828800"/>
            <a:ext cx="630936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Linux Auth Log</a:t>
            </a:r>
            <a:endParaRPr lang="en-US" sz="1250" dirty="0"/>
          </a:p>
        </p:txBody>
      </p:sp>
      <p:sp>
        <p:nvSpPr>
          <p:cNvPr id="22" name="Shape 20"/>
          <p:cNvSpPr/>
          <p:nvPr/>
        </p:nvSpPr>
        <p:spPr>
          <a:xfrm>
            <a:off x="8046720" y="2487168"/>
            <a:ext cx="0" cy="256032"/>
          </a:xfrm>
          <a:prstGeom prst="line">
            <a:avLst/>
          </a:prstGeom>
          <a:noFill/>
          <a:ln w="25400">
            <a:solidFill>
              <a:srgbClr val="2FBF71"/>
            </a:solidFill>
            <a:prstDash val="solid"/>
            <a:tailEnd type="triangle"/>
          </a:ln>
        </p:spPr>
      </p:sp>
      <p:sp>
        <p:nvSpPr>
          <p:cNvPr id="23" name="Shape 21"/>
          <p:cNvSpPr/>
          <p:nvPr/>
        </p:nvSpPr>
        <p:spPr>
          <a:xfrm>
            <a:off x="4892040" y="2743200"/>
            <a:ext cx="6309360" cy="658368"/>
          </a:xfrm>
          <a:prstGeom prst="roundRect">
            <a:avLst>
              <a:gd name="adj" fmla="val 11111"/>
            </a:avLst>
          </a:prstGeom>
          <a:solidFill>
            <a:srgbClr val="F2F6F5"/>
          </a:solidFill>
          <a:ln w="12700">
            <a:solidFill>
              <a:srgbClr val="DCE4E2"/>
            </a:solidFill>
            <a:prstDash val="solid"/>
          </a:ln>
        </p:spPr>
      </p:sp>
      <p:sp>
        <p:nvSpPr>
          <p:cNvPr id="24" name="Text 22"/>
          <p:cNvSpPr/>
          <p:nvPr/>
        </p:nvSpPr>
        <p:spPr>
          <a:xfrm>
            <a:off x="4892040" y="2743200"/>
            <a:ext cx="6309360" cy="658368"/>
          </a:xfrm>
          <a:prstGeom prst="rect">
            <a:avLst/>
          </a:prstGeom>
          <a:noFill/>
          <a:ln/>
        </p:spPr>
        <p:txBody>
          <a:bodyPr wrap="square" lIns="0" tIns="0" rIns="0" bIns="0" rtlCol="0" anchor="ctr"/>
          <a:lstStyle/>
          <a:p>
            <a:pPr algn="ctr" indent="0" marL="0">
              <a:buNone/>
            </a:pPr>
            <a:r>
              <a:rPr lang="en-US" sz="1250" dirty="0">
                <a:solidFill>
                  <a:srgbClr val="16232E"/>
                </a:solidFill>
                <a:latin typeface="Calibri" pitchFamily="34" charset="0"/>
                <a:ea typeface="Calibri" pitchFamily="34" charset="-122"/>
                <a:cs typeface="Calibri" pitchFamily="34" charset="-120"/>
              </a:rPr>
              <a:t>Log Analyzer</a:t>
            </a:r>
            <a:endParaRPr lang="en-US" sz="1250" dirty="0"/>
          </a:p>
          <a:p>
            <a:pPr algn="ctr" indent="0" marL="0">
              <a:buNone/>
            </a:pPr>
            <a:r>
              <a:rPr lang="en-US" sz="1250" dirty="0">
                <a:solidFill>
                  <a:srgbClr val="16232E"/>
                </a:solidFill>
                <a:latin typeface="Calibri" pitchFamily="34" charset="0"/>
                <a:ea typeface="Calibri" pitchFamily="34" charset="-122"/>
                <a:cs typeface="Calibri" pitchFamily="34" charset="-120"/>
              </a:rPr>
              <a:t>(log_analyzer.py)</a:t>
            </a:r>
            <a:endParaRPr lang="en-US" sz="1250" dirty="0"/>
          </a:p>
        </p:txBody>
      </p:sp>
      <p:sp>
        <p:nvSpPr>
          <p:cNvPr id="25" name="Shape 23"/>
          <p:cNvSpPr/>
          <p:nvPr/>
        </p:nvSpPr>
        <p:spPr>
          <a:xfrm>
            <a:off x="8046720" y="3401568"/>
            <a:ext cx="0" cy="256032"/>
          </a:xfrm>
          <a:prstGeom prst="line">
            <a:avLst/>
          </a:prstGeom>
          <a:noFill/>
          <a:ln w="25400">
            <a:solidFill>
              <a:srgbClr val="2FBF71"/>
            </a:solidFill>
            <a:prstDash val="solid"/>
            <a:tailEnd type="triangle"/>
          </a:ln>
        </p:spPr>
      </p:sp>
      <p:sp>
        <p:nvSpPr>
          <p:cNvPr id="26" name="Shape 24"/>
          <p:cNvSpPr/>
          <p:nvPr/>
        </p:nvSpPr>
        <p:spPr>
          <a:xfrm>
            <a:off x="4892040" y="3657600"/>
            <a:ext cx="6309360" cy="658368"/>
          </a:xfrm>
          <a:prstGeom prst="roundRect">
            <a:avLst>
              <a:gd name="adj" fmla="val 11111"/>
            </a:avLst>
          </a:prstGeom>
          <a:solidFill>
            <a:srgbClr val="F2F6F5"/>
          </a:solidFill>
          <a:ln w="12700">
            <a:solidFill>
              <a:srgbClr val="DCE4E2"/>
            </a:solidFill>
            <a:prstDash val="solid"/>
          </a:ln>
        </p:spPr>
      </p:sp>
      <p:sp>
        <p:nvSpPr>
          <p:cNvPr id="27" name="Text 25"/>
          <p:cNvSpPr/>
          <p:nvPr/>
        </p:nvSpPr>
        <p:spPr>
          <a:xfrm>
            <a:off x="4892040" y="3657600"/>
            <a:ext cx="6309360" cy="658368"/>
          </a:xfrm>
          <a:prstGeom prst="rect">
            <a:avLst/>
          </a:prstGeom>
          <a:noFill/>
          <a:ln/>
        </p:spPr>
        <p:txBody>
          <a:bodyPr wrap="square" lIns="0" tIns="0" rIns="0" bIns="0" rtlCol="0" anchor="ctr"/>
          <a:lstStyle/>
          <a:p>
            <a:pPr algn="ctr" indent="0" marL="0">
              <a:buNone/>
            </a:pPr>
            <a:r>
              <a:rPr lang="en-US" sz="1250" dirty="0">
                <a:solidFill>
                  <a:srgbClr val="16232E"/>
                </a:solidFill>
                <a:latin typeface="Calibri" pitchFamily="34" charset="0"/>
                <a:ea typeface="Calibri" pitchFamily="34" charset="-122"/>
                <a:cs typeface="Calibri" pitchFamily="34" charset="-120"/>
              </a:rPr>
              <a:t>Security Analysis</a:t>
            </a:r>
            <a:endParaRPr lang="en-US" sz="1250" dirty="0"/>
          </a:p>
          <a:p>
            <a:pPr algn="ctr" indent="0" marL="0">
              <a:buNone/>
            </a:pPr>
            <a:r>
              <a:rPr lang="en-US" sz="1250" dirty="0">
                <a:solidFill>
                  <a:srgbClr val="16232E"/>
                </a:solidFill>
                <a:latin typeface="Calibri" pitchFamily="34" charset="0"/>
                <a:ea typeface="Calibri" pitchFamily="34" charset="-122"/>
                <a:cs typeface="Calibri" pitchFamily="34" charset="-120"/>
              </a:rPr>
              <a:t>(threshold scoring)</a:t>
            </a:r>
            <a:endParaRPr lang="en-US" sz="1250" dirty="0"/>
          </a:p>
        </p:txBody>
      </p:sp>
      <p:sp>
        <p:nvSpPr>
          <p:cNvPr id="28" name="Shape 26"/>
          <p:cNvSpPr/>
          <p:nvPr/>
        </p:nvSpPr>
        <p:spPr>
          <a:xfrm>
            <a:off x="8046720" y="4315968"/>
            <a:ext cx="0" cy="256032"/>
          </a:xfrm>
          <a:prstGeom prst="line">
            <a:avLst/>
          </a:prstGeom>
          <a:noFill/>
          <a:ln w="25400">
            <a:solidFill>
              <a:srgbClr val="2FBF71"/>
            </a:solidFill>
            <a:prstDash val="solid"/>
            <a:tailEnd type="triangle"/>
          </a:ln>
        </p:spPr>
      </p:sp>
      <p:sp>
        <p:nvSpPr>
          <p:cNvPr id="29" name="Shape 27"/>
          <p:cNvSpPr/>
          <p:nvPr/>
        </p:nvSpPr>
        <p:spPr>
          <a:xfrm>
            <a:off x="4892040" y="4572000"/>
            <a:ext cx="6309360" cy="658368"/>
          </a:xfrm>
          <a:prstGeom prst="roundRect">
            <a:avLst>
              <a:gd name="adj" fmla="val 11111"/>
            </a:avLst>
          </a:prstGeom>
          <a:solidFill>
            <a:srgbClr val="F2F6F5"/>
          </a:solidFill>
          <a:ln w="12700">
            <a:solidFill>
              <a:srgbClr val="DCE4E2"/>
            </a:solidFill>
            <a:prstDash val="solid"/>
          </a:ln>
        </p:spPr>
      </p:sp>
      <p:sp>
        <p:nvSpPr>
          <p:cNvPr id="30" name="Text 28"/>
          <p:cNvSpPr/>
          <p:nvPr/>
        </p:nvSpPr>
        <p:spPr>
          <a:xfrm>
            <a:off x="4892040" y="4572000"/>
            <a:ext cx="6309360" cy="658368"/>
          </a:xfrm>
          <a:prstGeom prst="rect">
            <a:avLst/>
          </a:prstGeom>
          <a:noFill/>
          <a:ln/>
        </p:spPr>
        <p:txBody>
          <a:bodyPr wrap="square" lIns="0" tIns="0" rIns="0" bIns="0" rtlCol="0" anchor="ctr"/>
          <a:lstStyle/>
          <a:p>
            <a:pPr algn="ctr" indent="0" marL="0">
              <a:buNone/>
            </a:pPr>
            <a:r>
              <a:rPr lang="en-US" sz="1250" dirty="0">
                <a:solidFill>
                  <a:srgbClr val="16232E"/>
                </a:solidFill>
                <a:latin typeface="Calibri" pitchFamily="34" charset="0"/>
                <a:ea typeface="Calibri" pitchFamily="34" charset="-122"/>
                <a:cs typeface="Calibri" pitchFamily="34" charset="-120"/>
              </a:rPr>
              <a:t>Report Generator</a:t>
            </a:r>
            <a:endParaRPr lang="en-US" sz="1250" dirty="0"/>
          </a:p>
          <a:p>
            <a:pPr algn="ctr" indent="0" marL="0">
              <a:buNone/>
            </a:pPr>
            <a:r>
              <a:rPr lang="en-US" sz="1250" dirty="0">
                <a:solidFill>
                  <a:srgbClr val="16232E"/>
                </a:solidFill>
                <a:latin typeface="Calibri" pitchFamily="34" charset="0"/>
                <a:ea typeface="Calibri" pitchFamily="34" charset="-122"/>
                <a:cs typeface="Calibri" pitchFamily="34" charset="-120"/>
              </a:rPr>
              <a:t>(report_generator.py)</a:t>
            </a:r>
            <a:endParaRPr lang="en-US" sz="1250" dirty="0"/>
          </a:p>
        </p:txBody>
      </p:sp>
      <p:sp>
        <p:nvSpPr>
          <p:cNvPr id="31" name="Shape 29"/>
          <p:cNvSpPr/>
          <p:nvPr/>
        </p:nvSpPr>
        <p:spPr>
          <a:xfrm>
            <a:off x="8046720" y="5230368"/>
            <a:ext cx="0" cy="256032"/>
          </a:xfrm>
          <a:prstGeom prst="line">
            <a:avLst/>
          </a:prstGeom>
          <a:noFill/>
          <a:ln w="25400">
            <a:solidFill>
              <a:srgbClr val="2FBF71"/>
            </a:solidFill>
            <a:prstDash val="solid"/>
            <a:tailEnd type="triangle"/>
          </a:ln>
        </p:spPr>
      </p:sp>
      <p:sp>
        <p:nvSpPr>
          <p:cNvPr id="32" name="Shape 30"/>
          <p:cNvSpPr/>
          <p:nvPr/>
        </p:nvSpPr>
        <p:spPr>
          <a:xfrm>
            <a:off x="4892040" y="5486400"/>
            <a:ext cx="6309360" cy="658368"/>
          </a:xfrm>
          <a:prstGeom prst="roundRect">
            <a:avLst>
              <a:gd name="adj" fmla="val 11111"/>
            </a:avLst>
          </a:prstGeom>
          <a:solidFill>
            <a:srgbClr val="16232E"/>
          </a:solidFill>
          <a:ln w="12700">
            <a:solidFill>
              <a:srgbClr val="16232E"/>
            </a:solidFill>
            <a:prstDash val="solid"/>
          </a:ln>
        </p:spPr>
      </p:sp>
      <p:sp>
        <p:nvSpPr>
          <p:cNvPr id="33" name="Text 31"/>
          <p:cNvSpPr/>
          <p:nvPr/>
        </p:nvSpPr>
        <p:spPr>
          <a:xfrm>
            <a:off x="4892040" y="5486400"/>
            <a:ext cx="6309360" cy="65836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Security Report</a:t>
            </a:r>
            <a:endParaRPr lang="en-US" sz="1250" dirty="0"/>
          </a:p>
        </p:txBody>
      </p:sp>
      <p:sp>
        <p:nvSpPr>
          <p:cNvPr id="34" name="Text 32"/>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Linux Security Log Analyzer</a:t>
            </a:r>
            <a:endParaRPr lang="en-US" sz="900" dirty="0"/>
          </a:p>
        </p:txBody>
      </p:sp>
      <p:sp>
        <p:nvSpPr>
          <p:cNvPr id="35" name="Text 33"/>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7315200" cy="274320"/>
          </a:xfrm>
          <a:prstGeom prst="rect">
            <a:avLst/>
          </a:prstGeom>
          <a:noFill/>
          <a:ln/>
        </p:spPr>
        <p:txBody>
          <a:bodyPr wrap="square" lIns="0" tIns="0" rIns="0" bIns="0" rtlCol="0" anchor="ctr"/>
          <a:lstStyle/>
          <a:p>
            <a:pPr indent="0" marL="0">
              <a:buNone/>
            </a:pPr>
            <a:r>
              <a:rPr lang="en-US" sz="1200" b="1" spc="200" kern="0" dirty="0">
                <a:solidFill>
                  <a:srgbClr val="1F8F53"/>
                </a:solidFill>
                <a:latin typeface="Calibri" pitchFamily="34" charset="0"/>
                <a:ea typeface="Calibri" pitchFamily="34" charset="-122"/>
                <a:cs typeface="Calibri" pitchFamily="34" charset="-120"/>
              </a:rPr>
              <a:t>LIVE DEMO • PART 1</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6232E"/>
                </a:solidFill>
                <a:latin typeface="Cambria" pitchFamily="34" charset="0"/>
                <a:ea typeface="Cambria" pitchFamily="34" charset="-122"/>
                <a:cs typeface="Cambria" pitchFamily="34" charset="-120"/>
              </a:rPr>
              <a:t>Core Functionality Walkthrough: Running the Analyzer</a:t>
            </a:r>
            <a:endParaRPr lang="en-US" sz="3200" dirty="0"/>
          </a:p>
        </p:txBody>
      </p:sp>
      <p:sp>
        <p:nvSpPr>
          <p:cNvPr id="4" name="Text 2"/>
          <p:cNvSpPr/>
          <p:nvPr/>
        </p:nvSpPr>
        <p:spPr>
          <a:xfrm>
            <a:off x="566928" y="1600200"/>
            <a:ext cx="5029200" cy="292608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16232E"/>
                </a:solidFill>
                <a:latin typeface="Calibri" pitchFamily="34" charset="0"/>
                <a:ea typeface="Calibri" pitchFamily="34" charset="-122"/>
                <a:cs typeface="Calibri" pitchFamily="34" charset="-120"/>
              </a:rPr>
              <a:t>Clone the repo and run:  python main.py --log "sample_auth.log"</a:t>
            </a:r>
            <a:endParaRPr lang="en-US" sz="1300" dirty="0"/>
          </a:p>
          <a:p>
            <a:pPr marL="228600" indent="-228600">
              <a:spcAft>
                <a:spcPts val="1200"/>
              </a:spcAft>
              <a:buSzPct val="100000"/>
              <a:buChar char="•"/>
            </a:pPr>
            <a:r>
              <a:rPr lang="en-US" sz="1300" dirty="0">
                <a:solidFill>
                  <a:srgbClr val="16232E"/>
                </a:solidFill>
                <a:latin typeface="Calibri" pitchFamily="34" charset="0"/>
                <a:ea typeface="Calibri" pitchFamily="34" charset="-122"/>
                <a:cs typeface="Calibri" pitchFamily="34" charset="-120"/>
              </a:rPr>
              <a:t>An interactive menu appears with three options: Analyze Log File, Generate Security Report, Exit.</a:t>
            </a:r>
            <a:endParaRPr lang="en-US" sz="1300" dirty="0"/>
          </a:p>
          <a:p>
            <a:pPr marL="228600" indent="-228600">
              <a:spcAft>
                <a:spcPts val="1200"/>
              </a:spcAft>
              <a:buSzPct val="100000"/>
              <a:buChar char="•"/>
            </a:pPr>
            <a:r>
              <a:rPr lang="en-US" sz="1300" dirty="0">
                <a:solidFill>
                  <a:srgbClr val="16232E"/>
                </a:solidFill>
                <a:latin typeface="Calibri" pitchFamily="34" charset="0"/>
                <a:ea typeface="Calibri" pitchFamily="34" charset="-122"/>
                <a:cs typeface="Calibri" pitchFamily="34" charset="-120"/>
              </a:rPr>
              <a:t>Selecting option 1 parses the sample log and extracts every failed SSH login event.</a:t>
            </a:r>
            <a:endParaRPr lang="en-US" sz="1300" dirty="0"/>
          </a:p>
          <a:p>
            <a:pPr marL="228600" indent="-228600">
              <a:spcAft>
                <a:spcPts val="1200"/>
              </a:spcAft>
              <a:buSzPct val="100000"/>
              <a:buChar char="•"/>
            </a:pPr>
            <a:r>
              <a:rPr lang="en-US" sz="1300" dirty="0">
                <a:solidFill>
                  <a:srgbClr val="16232E"/>
                </a:solidFill>
                <a:latin typeface="Calibri" pitchFamily="34" charset="0"/>
                <a:ea typeface="Calibri" pitchFamily="34" charset="-122"/>
                <a:cs typeface="Calibri" pitchFamily="34" charset="-120"/>
              </a:rPr>
              <a:t>This is where log_analyzer.py does its work — regex pattern matching pulls out IPs, usernames, and timestamps.</a:t>
            </a:r>
            <a:endParaRPr lang="en-US" sz="1300" dirty="0"/>
          </a:p>
        </p:txBody>
      </p:sp>
      <p:sp>
        <p:nvSpPr>
          <p:cNvPr id="5" name="Shape 3"/>
          <p:cNvSpPr/>
          <p:nvPr/>
        </p:nvSpPr>
        <p:spPr>
          <a:xfrm>
            <a:off x="566928" y="4709160"/>
            <a:ext cx="5029200" cy="1280160"/>
          </a:xfrm>
          <a:prstGeom prst="roundRect">
            <a:avLst>
              <a:gd name="adj" fmla="val 5714"/>
            </a:avLst>
          </a:prstGeom>
          <a:solidFill>
            <a:srgbClr val="0D1B2A"/>
          </a:solidFill>
          <a:ln/>
        </p:spPr>
      </p:sp>
      <p:sp>
        <p:nvSpPr>
          <p:cNvPr id="6" name="Text 4"/>
          <p:cNvSpPr/>
          <p:nvPr/>
        </p:nvSpPr>
        <p:spPr>
          <a:xfrm>
            <a:off x="777240" y="4709160"/>
            <a:ext cx="4617720" cy="128016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b="1" dirty="0">
                <a:solidFill>
                  <a:srgbClr val="2FBF71"/>
                </a:solidFill>
                <a:latin typeface="Courier New" pitchFamily="34" charset="0"/>
                <a:ea typeface="Courier New" pitchFamily="34" charset="-122"/>
                <a:cs typeface="Courier New" pitchFamily="34" charset="-120"/>
              </a:rPr>
              <a:t>       LINUX SECURITY LOG ANALYZER
</a:t>
            </a:r>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C7D3D9"/>
                </a:solidFill>
                <a:latin typeface="Courier New" pitchFamily="34" charset="0"/>
                <a:ea typeface="Courier New" pitchFamily="34" charset="-122"/>
                <a:cs typeface="Courier New" pitchFamily="34" charset="-120"/>
              </a:rPr>
              <a:t>1. Analyze Log File   2. Generate Security Report   3. Exit</a:t>
            </a:r>
            <a:endParaRPr lang="en-US" sz="950" dirty="0"/>
          </a:p>
        </p:txBody>
      </p:sp>
      <p:sp>
        <p:nvSpPr>
          <p:cNvPr id="7" name="Shape 5"/>
          <p:cNvSpPr/>
          <p:nvPr/>
        </p:nvSpPr>
        <p:spPr>
          <a:xfrm>
            <a:off x="5934456" y="2251854"/>
            <a:ext cx="5321808" cy="3040092"/>
          </a:xfrm>
          <a:prstGeom prst="rect">
            <a:avLst/>
          </a:prstGeom>
          <a:solidFill>
            <a:srgbClr val="FFFFFF"/>
          </a:solidFill>
          <a:ln w="12700">
            <a:solidFill>
              <a:srgbClr val="DCE4E2"/>
            </a:solidFill>
            <a:prstDash val="solid"/>
          </a:ln>
          <a:effectLst>
            <a:outerShdw sx="100000" sy="100000" kx="0" ky="0" algn="bl" rotWithShape="0" blurRad="101600" dist="38100" dir="5400000">
              <a:srgbClr val="1B2A41">
                <a:alpha val="22000"/>
              </a:srgbClr>
            </a:outerShdw>
          </a:effectLst>
        </p:spPr>
      </p:sp>
      <p:pic>
        <p:nvPicPr>
          <p:cNvPr id="8" name="Image 0" descr="/mnt/user-data/uploads/analyzer.png">    </p:cNvPr>
          <p:cNvPicPr>
            <a:picLocks noChangeAspect="1"/>
          </p:cNvPicPr>
          <p:nvPr/>
        </p:nvPicPr>
        <p:blipFill>
          <a:blip r:embed="rId1"/>
          <a:stretch>
            <a:fillRect/>
          </a:stretch>
        </p:blipFill>
        <p:spPr>
          <a:xfrm>
            <a:off x="5989320" y="2306718"/>
            <a:ext cx="5212080" cy="2930364"/>
          </a:xfrm>
          <a:prstGeom prst="rect">
            <a:avLst/>
          </a:prstGeom>
        </p:spPr>
      </p:pic>
      <p:sp>
        <p:nvSpPr>
          <p:cNvPr id="9" name="Text 6"/>
          <p:cNvSpPr/>
          <p:nvPr/>
        </p:nvSpPr>
        <p:spPr>
          <a:xfrm>
            <a:off x="5989320" y="5346810"/>
            <a:ext cx="5212080" cy="274320"/>
          </a:xfrm>
          <a:prstGeom prst="rect">
            <a:avLst/>
          </a:prstGeom>
          <a:noFill/>
          <a:ln/>
        </p:spPr>
        <p:txBody>
          <a:bodyPr wrap="square" lIns="0" tIns="0" rIns="0" bIns="0" rtlCol="0" anchor="ctr"/>
          <a:lstStyle/>
          <a:p>
            <a:pPr algn="ctr" indent="0" marL="0">
              <a:buNone/>
            </a:pPr>
            <a:r>
              <a:rPr lang="en-US" sz="1000" i="1" dirty="0">
                <a:solidFill>
                  <a:srgbClr val="5B6B79"/>
                </a:solidFill>
                <a:latin typeface="Calibri" pitchFamily="34" charset="0"/>
                <a:ea typeface="Calibri" pitchFamily="34" charset="-122"/>
                <a:cs typeface="Calibri" pitchFamily="34" charset="-120"/>
              </a:rPr>
              <a:t>Running the analyzer — VS Code terminal output</a:t>
            </a:r>
            <a:endParaRPr lang="en-US" sz="1000" dirty="0"/>
          </a:p>
        </p:txBody>
      </p:sp>
      <p:sp>
        <p:nvSpPr>
          <p:cNvPr id="10" name="Text 7"/>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Linux Security Log Analyzer</a:t>
            </a:r>
            <a:endParaRPr lang="en-US" sz="900" dirty="0"/>
          </a:p>
        </p:txBody>
      </p:sp>
      <p:sp>
        <p:nvSpPr>
          <p:cNvPr id="11" name="Text 8"/>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7315200" cy="274320"/>
          </a:xfrm>
          <a:prstGeom prst="rect">
            <a:avLst/>
          </a:prstGeom>
          <a:noFill/>
          <a:ln/>
        </p:spPr>
        <p:txBody>
          <a:bodyPr wrap="square" lIns="0" tIns="0" rIns="0" bIns="0" rtlCol="0" anchor="ctr"/>
          <a:lstStyle/>
          <a:p>
            <a:pPr indent="0" marL="0">
              <a:buNone/>
            </a:pPr>
            <a:r>
              <a:rPr lang="en-US" sz="1200" b="1" spc="200" kern="0" dirty="0">
                <a:solidFill>
                  <a:srgbClr val="1F8F53"/>
                </a:solidFill>
                <a:latin typeface="Calibri" pitchFamily="34" charset="0"/>
                <a:ea typeface="Calibri" pitchFamily="34" charset="-122"/>
                <a:cs typeface="Calibri" pitchFamily="34" charset="-120"/>
              </a:rPr>
              <a:t>LIVE DEMO • PART 2</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6232E"/>
                </a:solidFill>
                <a:latin typeface="Cambria" pitchFamily="34" charset="0"/>
                <a:ea typeface="Cambria" pitchFamily="34" charset="-122"/>
                <a:cs typeface="Cambria" pitchFamily="34" charset="-120"/>
              </a:rPr>
              <a:t>Core Functionality Walkthrough: Security Report Output</a:t>
            </a:r>
            <a:endParaRPr lang="en-US" sz="3200" dirty="0"/>
          </a:p>
        </p:txBody>
      </p:sp>
      <p:sp>
        <p:nvSpPr>
          <p:cNvPr id="4" name="Text 2"/>
          <p:cNvSpPr/>
          <p:nvPr/>
        </p:nvSpPr>
        <p:spPr>
          <a:xfrm>
            <a:off x="566928" y="1554480"/>
            <a:ext cx="11064240" cy="13716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Selecting option 2 hands the analyzed data to report_generator.py.</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The report totals failed SSH attempts and breaks down attempts by IP address — any IP with 5+ failed attempts is flagged 🚨 SUSPICIOUS.</a:t>
            </a:r>
            <a:endParaRPr lang="en-US" sz="1300" dirty="0"/>
          </a:p>
          <a:p>
            <a:pPr marL="228600" indent="-228600">
              <a:spcAft>
                <a:spcPts val="800"/>
              </a:spcAft>
              <a:buSzPct val="100000"/>
              <a:buChar char="•"/>
            </a:pPr>
            <a:r>
              <a:rPr lang="en-US" sz="1300" dirty="0">
                <a:solidFill>
                  <a:srgbClr val="16232E"/>
                </a:solidFill>
                <a:latin typeface="Calibri" pitchFamily="34" charset="0"/>
                <a:ea typeface="Calibri" pitchFamily="34" charset="-122"/>
                <a:cs typeface="Calibri" pitchFamily="34" charset="-120"/>
              </a:rPr>
              <a:t>The full report also includes failed-login timestamps, SSH security events, errors, and warnings.</a:t>
            </a:r>
            <a:endParaRPr lang="en-US" sz="1300" dirty="0"/>
          </a:p>
        </p:txBody>
      </p:sp>
      <p:sp>
        <p:nvSpPr>
          <p:cNvPr id="5" name="Shape 3"/>
          <p:cNvSpPr/>
          <p:nvPr/>
        </p:nvSpPr>
        <p:spPr>
          <a:xfrm>
            <a:off x="512064" y="3114844"/>
            <a:ext cx="5504688" cy="3142912"/>
          </a:xfrm>
          <a:prstGeom prst="rect">
            <a:avLst/>
          </a:prstGeom>
          <a:solidFill>
            <a:srgbClr val="FFFFFF"/>
          </a:solidFill>
          <a:ln w="12700">
            <a:solidFill>
              <a:srgbClr val="DCE4E2"/>
            </a:solidFill>
            <a:prstDash val="solid"/>
          </a:ln>
          <a:effectLst>
            <a:outerShdw sx="100000" sy="100000" kx="0" ky="0" algn="bl" rotWithShape="0" blurRad="101600" dist="38100" dir="5400000">
              <a:srgbClr val="1B2A41">
                <a:alpha val="22000"/>
              </a:srgbClr>
            </a:outerShdw>
          </a:effectLst>
        </p:spPr>
      </p:sp>
      <p:pic>
        <p:nvPicPr>
          <p:cNvPr id="6" name="Image 0" descr="/mnt/user-data/uploads/security-report-summary.png">    </p:cNvPr>
          <p:cNvPicPr>
            <a:picLocks noChangeAspect="1"/>
          </p:cNvPicPr>
          <p:nvPr/>
        </p:nvPicPr>
        <p:blipFill>
          <a:blip r:embed="rId1"/>
          <a:stretch>
            <a:fillRect/>
          </a:stretch>
        </p:blipFill>
        <p:spPr>
          <a:xfrm>
            <a:off x="566928" y="3169708"/>
            <a:ext cx="5394960" cy="3033184"/>
          </a:xfrm>
          <a:prstGeom prst="rect">
            <a:avLst/>
          </a:prstGeom>
        </p:spPr>
      </p:pic>
      <p:sp>
        <p:nvSpPr>
          <p:cNvPr id="7" name="Text 4"/>
          <p:cNvSpPr/>
          <p:nvPr/>
        </p:nvSpPr>
        <p:spPr>
          <a:xfrm>
            <a:off x="566928" y="6312620"/>
            <a:ext cx="5394960" cy="274320"/>
          </a:xfrm>
          <a:prstGeom prst="rect">
            <a:avLst/>
          </a:prstGeom>
          <a:noFill/>
          <a:ln/>
        </p:spPr>
        <p:txBody>
          <a:bodyPr wrap="square" lIns="0" tIns="0" rIns="0" bIns="0" rtlCol="0" anchor="ctr"/>
          <a:lstStyle/>
          <a:p>
            <a:pPr algn="ctr" indent="0" marL="0">
              <a:buNone/>
            </a:pPr>
            <a:r>
              <a:rPr lang="en-US" sz="1000" i="1" dirty="0">
                <a:solidFill>
                  <a:srgbClr val="5B6B79"/>
                </a:solidFill>
                <a:latin typeface="Calibri" pitchFamily="34" charset="0"/>
                <a:ea typeface="Calibri" pitchFamily="34" charset="-122"/>
                <a:cs typeface="Calibri" pitchFamily="34" charset="-120"/>
              </a:rPr>
              <a:t>Security report — summary (attempts, IPs, suspicious flags)</a:t>
            </a:r>
            <a:endParaRPr lang="en-US" sz="1000" dirty="0"/>
          </a:p>
        </p:txBody>
      </p:sp>
      <p:sp>
        <p:nvSpPr>
          <p:cNvPr id="8" name="Shape 5"/>
          <p:cNvSpPr/>
          <p:nvPr/>
        </p:nvSpPr>
        <p:spPr>
          <a:xfrm>
            <a:off x="6181344" y="3114844"/>
            <a:ext cx="5504688" cy="3142912"/>
          </a:xfrm>
          <a:prstGeom prst="rect">
            <a:avLst/>
          </a:prstGeom>
          <a:solidFill>
            <a:srgbClr val="FFFFFF"/>
          </a:solidFill>
          <a:ln w="12700">
            <a:solidFill>
              <a:srgbClr val="DCE4E2"/>
            </a:solidFill>
            <a:prstDash val="solid"/>
          </a:ln>
          <a:effectLst>
            <a:outerShdw sx="100000" sy="100000" kx="0" ky="0" algn="bl" rotWithShape="0" blurRad="101600" dist="38100" dir="5400000">
              <a:srgbClr val="1B2A41">
                <a:alpha val="22000"/>
              </a:srgbClr>
            </a:outerShdw>
          </a:effectLst>
        </p:spPr>
      </p:sp>
      <p:pic>
        <p:nvPicPr>
          <p:cNvPr id="9" name="Image 1" descr="/mnt/user-data/uploads/security-report-details.png">    </p:cNvPr>
          <p:cNvPicPr>
            <a:picLocks noChangeAspect="1"/>
          </p:cNvPicPr>
          <p:nvPr/>
        </p:nvPicPr>
        <p:blipFill>
          <a:blip r:embed="rId2"/>
          <a:stretch>
            <a:fillRect/>
          </a:stretch>
        </p:blipFill>
        <p:spPr>
          <a:xfrm>
            <a:off x="6236208" y="3169708"/>
            <a:ext cx="5394960" cy="3033184"/>
          </a:xfrm>
          <a:prstGeom prst="rect">
            <a:avLst/>
          </a:prstGeom>
        </p:spPr>
      </p:pic>
      <p:sp>
        <p:nvSpPr>
          <p:cNvPr id="10" name="Text 6"/>
          <p:cNvSpPr/>
          <p:nvPr/>
        </p:nvSpPr>
        <p:spPr>
          <a:xfrm>
            <a:off x="6236208" y="6312620"/>
            <a:ext cx="5394960" cy="274320"/>
          </a:xfrm>
          <a:prstGeom prst="rect">
            <a:avLst/>
          </a:prstGeom>
          <a:noFill/>
          <a:ln/>
        </p:spPr>
        <p:txBody>
          <a:bodyPr wrap="square" lIns="0" tIns="0" rIns="0" bIns="0" rtlCol="0" anchor="ctr"/>
          <a:lstStyle/>
          <a:p>
            <a:pPr algn="ctr" indent="0" marL="0">
              <a:buNone/>
            </a:pPr>
            <a:r>
              <a:rPr lang="en-US" sz="1000" i="1" dirty="0">
                <a:solidFill>
                  <a:srgbClr val="5B6B79"/>
                </a:solidFill>
                <a:latin typeface="Calibri" pitchFamily="34" charset="0"/>
                <a:ea typeface="Calibri" pitchFamily="34" charset="-122"/>
                <a:cs typeface="Calibri" pitchFamily="34" charset="-120"/>
              </a:rPr>
              <a:t>Security report — details (events, errors, warnings)</a:t>
            </a:r>
            <a:endParaRPr lang="en-US" sz="1000" dirty="0"/>
          </a:p>
        </p:txBody>
      </p:sp>
      <p:sp>
        <p:nvSpPr>
          <p:cNvPr id="11" name="Text 7"/>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Linux Security Log Analyzer</a:t>
            </a:r>
            <a:endParaRPr lang="en-US" sz="900" dirty="0"/>
          </a:p>
        </p:txBody>
      </p:sp>
      <p:sp>
        <p:nvSpPr>
          <p:cNvPr id="12" name="Text 8"/>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7315200" cy="274320"/>
          </a:xfrm>
          <a:prstGeom prst="rect">
            <a:avLst/>
          </a:prstGeom>
          <a:noFill/>
          <a:ln/>
        </p:spPr>
        <p:txBody>
          <a:bodyPr wrap="square" lIns="0" tIns="0" rIns="0" bIns="0" rtlCol="0" anchor="ctr"/>
          <a:lstStyle/>
          <a:p>
            <a:pPr indent="0" marL="0">
              <a:buNone/>
            </a:pPr>
            <a:r>
              <a:rPr lang="en-US" sz="1200" b="1" spc="200" kern="0" dirty="0">
                <a:solidFill>
                  <a:srgbClr val="1F8F53"/>
                </a:solidFill>
                <a:latin typeface="Calibri" pitchFamily="34" charset="0"/>
                <a:ea typeface="Calibri" pitchFamily="34" charset="-122"/>
                <a:cs typeface="Calibri" pitchFamily="34" charset="-120"/>
              </a:rPr>
              <a:t>WHAT I LEARNED</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6232E"/>
                </a:solidFill>
                <a:latin typeface="Cambria" pitchFamily="34" charset="0"/>
                <a:ea typeface="Cambria" pitchFamily="34" charset="-122"/>
                <a:cs typeface="Cambria" pitchFamily="34" charset="-120"/>
              </a:rPr>
              <a:t>Challenges Faced &amp; Solutions</a:t>
            </a:r>
            <a:endParaRPr lang="en-US" sz="3200" dirty="0"/>
          </a:p>
        </p:txBody>
      </p:sp>
      <p:sp>
        <p:nvSpPr>
          <p:cNvPr id="4" name="Shape 2"/>
          <p:cNvSpPr/>
          <p:nvPr/>
        </p:nvSpPr>
        <p:spPr>
          <a:xfrm>
            <a:off x="566928" y="1600200"/>
            <a:ext cx="11064240" cy="1298448"/>
          </a:xfrm>
          <a:prstGeom prst="roundRect">
            <a:avLst>
              <a:gd name="adj" fmla="val 5634"/>
            </a:avLst>
          </a:prstGeom>
          <a:solidFill>
            <a:srgbClr val="F2F6F5"/>
          </a:solidFill>
          <a:ln w="12700">
            <a:solidFill>
              <a:srgbClr val="DCE4E2"/>
            </a:solidFill>
            <a:prstDash val="solid"/>
          </a:ln>
        </p:spPr>
      </p:sp>
      <p:sp>
        <p:nvSpPr>
          <p:cNvPr id="5" name="Shape 3"/>
          <p:cNvSpPr/>
          <p:nvPr/>
        </p:nvSpPr>
        <p:spPr>
          <a:xfrm>
            <a:off x="822960" y="1728216"/>
            <a:ext cx="457200" cy="457200"/>
          </a:xfrm>
          <a:prstGeom prst="ellipse">
            <a:avLst/>
          </a:prstGeom>
          <a:solidFill>
            <a:srgbClr val="2FBF71"/>
          </a:solidFill>
          <a:ln/>
        </p:spPr>
      </p:sp>
      <p:sp>
        <p:nvSpPr>
          <p:cNvPr id="6" name="Text 4"/>
          <p:cNvSpPr/>
          <p:nvPr/>
        </p:nvSpPr>
        <p:spPr>
          <a:xfrm>
            <a:off x="822960" y="17282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22960" y="2276856"/>
            <a:ext cx="3063240" cy="530352"/>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Parsing inconsistent log formats</a:t>
            </a:r>
            <a:endParaRPr lang="en-US" sz="1350" dirty="0"/>
          </a:p>
        </p:txBody>
      </p:sp>
      <p:sp>
        <p:nvSpPr>
          <p:cNvPr id="8" name="Text 6"/>
          <p:cNvSpPr/>
          <p:nvPr/>
        </p:nvSpPr>
        <p:spPr>
          <a:xfrm>
            <a:off x="4206240" y="1728216"/>
            <a:ext cx="7223760" cy="1042416"/>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Linux auth logs vary in structure across distros and services. Built targeted regex patterns and tested them against varied sample log lines to reliably extract IPs, users, and timestamps.</a:t>
            </a:r>
            <a:endParaRPr lang="en-US" sz="1250" dirty="0"/>
          </a:p>
        </p:txBody>
      </p:sp>
      <p:sp>
        <p:nvSpPr>
          <p:cNvPr id="9" name="Shape 7"/>
          <p:cNvSpPr/>
          <p:nvPr/>
        </p:nvSpPr>
        <p:spPr>
          <a:xfrm>
            <a:off x="566928" y="3063240"/>
            <a:ext cx="11064240" cy="1298448"/>
          </a:xfrm>
          <a:prstGeom prst="roundRect">
            <a:avLst>
              <a:gd name="adj" fmla="val 5634"/>
            </a:avLst>
          </a:prstGeom>
          <a:solidFill>
            <a:srgbClr val="F2F6F5"/>
          </a:solidFill>
          <a:ln w="12700">
            <a:solidFill>
              <a:srgbClr val="DCE4E2"/>
            </a:solidFill>
            <a:prstDash val="solid"/>
          </a:ln>
        </p:spPr>
      </p:sp>
      <p:sp>
        <p:nvSpPr>
          <p:cNvPr id="10" name="Shape 8"/>
          <p:cNvSpPr/>
          <p:nvPr/>
        </p:nvSpPr>
        <p:spPr>
          <a:xfrm>
            <a:off x="822960" y="3191256"/>
            <a:ext cx="457200" cy="457200"/>
          </a:xfrm>
          <a:prstGeom prst="ellipse">
            <a:avLst/>
          </a:prstGeom>
          <a:solidFill>
            <a:srgbClr val="2FBF71"/>
          </a:solidFill>
          <a:ln/>
        </p:spPr>
      </p:sp>
      <p:sp>
        <p:nvSpPr>
          <p:cNvPr id="11" name="Text 9"/>
          <p:cNvSpPr/>
          <p:nvPr/>
        </p:nvSpPr>
        <p:spPr>
          <a:xfrm>
            <a:off x="822960" y="31912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822960" y="3739896"/>
            <a:ext cx="3063240" cy="530352"/>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Avoiding false positives</a:t>
            </a:r>
            <a:endParaRPr lang="en-US" sz="1350" dirty="0"/>
          </a:p>
        </p:txBody>
      </p:sp>
      <p:sp>
        <p:nvSpPr>
          <p:cNvPr id="13" name="Text 11"/>
          <p:cNvSpPr/>
          <p:nvPr/>
        </p:nvSpPr>
        <p:spPr>
          <a:xfrm>
            <a:off x="4206240" y="3191256"/>
            <a:ext cx="7223760" cy="1042416"/>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A single failed login shouldn't trigger an alert. Introduced a configurable threshold (default: 5 failed attempts) so only genuinely repeated attempts are flagged as suspicious.</a:t>
            </a:r>
            <a:endParaRPr lang="en-US" sz="1250" dirty="0"/>
          </a:p>
        </p:txBody>
      </p:sp>
      <p:sp>
        <p:nvSpPr>
          <p:cNvPr id="14" name="Shape 12"/>
          <p:cNvSpPr/>
          <p:nvPr/>
        </p:nvSpPr>
        <p:spPr>
          <a:xfrm>
            <a:off x="566928" y="4526280"/>
            <a:ext cx="11064240" cy="1298448"/>
          </a:xfrm>
          <a:prstGeom prst="roundRect">
            <a:avLst>
              <a:gd name="adj" fmla="val 5634"/>
            </a:avLst>
          </a:prstGeom>
          <a:solidFill>
            <a:srgbClr val="F2F6F5"/>
          </a:solidFill>
          <a:ln w="12700">
            <a:solidFill>
              <a:srgbClr val="DCE4E2"/>
            </a:solidFill>
            <a:prstDash val="solid"/>
          </a:ln>
        </p:spPr>
      </p:sp>
      <p:sp>
        <p:nvSpPr>
          <p:cNvPr id="15" name="Shape 13"/>
          <p:cNvSpPr/>
          <p:nvPr/>
        </p:nvSpPr>
        <p:spPr>
          <a:xfrm>
            <a:off x="822960" y="4654296"/>
            <a:ext cx="457200" cy="457200"/>
          </a:xfrm>
          <a:prstGeom prst="ellipse">
            <a:avLst/>
          </a:prstGeom>
          <a:solidFill>
            <a:srgbClr val="2FBF71"/>
          </a:solidFill>
          <a:ln/>
        </p:spPr>
      </p:sp>
      <p:sp>
        <p:nvSpPr>
          <p:cNvPr id="16" name="Text 14"/>
          <p:cNvSpPr/>
          <p:nvPr/>
        </p:nvSpPr>
        <p:spPr>
          <a:xfrm>
            <a:off x="822960" y="46542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22960" y="5202936"/>
            <a:ext cx="3063240" cy="530352"/>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Keeping the codebase maintainable</a:t>
            </a:r>
            <a:endParaRPr lang="en-US" sz="1350" dirty="0"/>
          </a:p>
        </p:txBody>
      </p:sp>
      <p:sp>
        <p:nvSpPr>
          <p:cNvPr id="18" name="Text 16"/>
          <p:cNvSpPr/>
          <p:nvPr/>
        </p:nvSpPr>
        <p:spPr>
          <a:xfrm>
            <a:off x="4206240" y="4654296"/>
            <a:ext cx="7223760" cy="1042416"/>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Kept analysis and reporting logic in separate modules (log_analyzer.py, report_generator.py) instead of one script, so each piece can be tested and extended independently.</a:t>
            </a:r>
            <a:endParaRPr lang="en-US" sz="1250" dirty="0"/>
          </a:p>
        </p:txBody>
      </p:sp>
      <p:sp>
        <p:nvSpPr>
          <p:cNvPr id="19" name="Text 17"/>
          <p:cNvSpPr/>
          <p:nvPr/>
        </p:nvSpPr>
        <p:spPr>
          <a:xfrm>
            <a:off x="566928" y="6263640"/>
            <a:ext cx="11064240" cy="320040"/>
          </a:xfrm>
          <a:prstGeom prst="rect">
            <a:avLst/>
          </a:prstGeom>
          <a:noFill/>
          <a:ln/>
        </p:spPr>
        <p:txBody>
          <a:bodyPr wrap="square" lIns="0" tIns="0" rIns="0" bIns="0" rtlCol="0" anchor="ctr"/>
          <a:lstStyle/>
          <a:p>
            <a:pPr indent="0" marL="0">
              <a:buNone/>
            </a:pPr>
            <a:r>
              <a:rPr lang="en-US" sz="1000" i="1" dirty="0">
                <a:solidFill>
                  <a:srgbClr val="5B6B79"/>
                </a:solidFill>
                <a:latin typeface="Calibri" pitchFamily="34" charset="0"/>
                <a:ea typeface="Calibri" pitchFamily="34" charset="-122"/>
                <a:cs typeface="Calibri" pitchFamily="34" charset="-120"/>
              </a:rPr>
              <a:t>Note: customize this slide with the specific hurdles you hit while building — these are the most common ones for a project like this.</a:t>
            </a:r>
            <a:endParaRPr lang="en-US" sz="1000" dirty="0"/>
          </a:p>
        </p:txBody>
      </p:sp>
      <p:sp>
        <p:nvSpPr>
          <p:cNvPr id="20" name="Text 18"/>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Linux Security Log Analyzer</a:t>
            </a:r>
            <a:endParaRPr lang="en-US" sz="900" dirty="0"/>
          </a:p>
        </p:txBody>
      </p:sp>
      <p:sp>
        <p:nvSpPr>
          <p:cNvPr id="21" name="Text 19"/>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64592"/>
            <a:ext cx="7315200" cy="274320"/>
          </a:xfrm>
          <a:prstGeom prst="rect">
            <a:avLst/>
          </a:prstGeom>
          <a:noFill/>
          <a:ln/>
        </p:spPr>
        <p:txBody>
          <a:bodyPr wrap="square" lIns="0" tIns="0" rIns="0" bIns="0" rtlCol="0" anchor="ctr"/>
          <a:lstStyle/>
          <a:p>
            <a:pPr indent="0" marL="0">
              <a:buNone/>
            </a:pPr>
            <a:r>
              <a:rPr lang="en-US" sz="1200" b="1" spc="200" kern="0" dirty="0">
                <a:solidFill>
                  <a:srgbClr val="1F8F53"/>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200" b="1" dirty="0">
                <a:solidFill>
                  <a:srgbClr val="16232E"/>
                </a:solidFill>
                <a:latin typeface="Cambria" pitchFamily="34" charset="0"/>
                <a:ea typeface="Cambria" pitchFamily="34" charset="-122"/>
                <a:cs typeface="Cambria" pitchFamily="34" charset="-120"/>
              </a:rPr>
              <a:t>Future Enhancements</a:t>
            </a:r>
            <a:endParaRPr lang="en-US" sz="3200" dirty="0"/>
          </a:p>
        </p:txBody>
      </p:sp>
      <p:sp>
        <p:nvSpPr>
          <p:cNvPr id="4" name="Shape 2"/>
          <p:cNvSpPr/>
          <p:nvPr/>
        </p:nvSpPr>
        <p:spPr>
          <a:xfrm>
            <a:off x="566928" y="1655064"/>
            <a:ext cx="237744" cy="237744"/>
          </a:xfrm>
          <a:prstGeom prst="ellipse">
            <a:avLst/>
          </a:prstGeom>
          <a:solidFill>
            <a:srgbClr val="2FBF71"/>
          </a:solidFill>
          <a:ln/>
        </p:spPr>
      </p:sp>
      <p:sp>
        <p:nvSpPr>
          <p:cNvPr id="5" name="Text 3"/>
          <p:cNvSpPr/>
          <p:nvPr/>
        </p:nvSpPr>
        <p:spPr>
          <a:xfrm>
            <a:off x="566928" y="16550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6" name="Text 4"/>
          <p:cNvSpPr/>
          <p:nvPr/>
        </p:nvSpPr>
        <p:spPr>
          <a:xfrm>
            <a:off x="932688" y="15727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Real-time log monitoring (live tailing, not just static files)</a:t>
            </a:r>
            <a:endParaRPr lang="en-US" sz="1250" dirty="0"/>
          </a:p>
        </p:txBody>
      </p:sp>
      <p:sp>
        <p:nvSpPr>
          <p:cNvPr id="7" name="Shape 5"/>
          <p:cNvSpPr/>
          <p:nvPr/>
        </p:nvSpPr>
        <p:spPr>
          <a:xfrm>
            <a:off x="6281928" y="1655064"/>
            <a:ext cx="237744" cy="237744"/>
          </a:xfrm>
          <a:prstGeom prst="ellipse">
            <a:avLst/>
          </a:prstGeom>
          <a:solidFill>
            <a:srgbClr val="2FBF71"/>
          </a:solidFill>
          <a:ln/>
        </p:spPr>
      </p:sp>
      <p:sp>
        <p:nvSpPr>
          <p:cNvPr id="8" name="Text 6"/>
          <p:cNvSpPr/>
          <p:nvPr/>
        </p:nvSpPr>
        <p:spPr>
          <a:xfrm>
            <a:off x="6281928" y="16550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9" name="Text 7"/>
          <p:cNvSpPr/>
          <p:nvPr/>
        </p:nvSpPr>
        <p:spPr>
          <a:xfrm>
            <a:off x="6647688" y="15727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Support for additional Linux log formats beyond SSH auth logs</a:t>
            </a:r>
            <a:endParaRPr lang="en-US" sz="1250" dirty="0"/>
          </a:p>
        </p:txBody>
      </p:sp>
      <p:sp>
        <p:nvSpPr>
          <p:cNvPr id="10" name="Shape 8"/>
          <p:cNvSpPr/>
          <p:nvPr/>
        </p:nvSpPr>
        <p:spPr>
          <a:xfrm>
            <a:off x="566928" y="2340864"/>
            <a:ext cx="237744" cy="237744"/>
          </a:xfrm>
          <a:prstGeom prst="ellipse">
            <a:avLst/>
          </a:prstGeom>
          <a:solidFill>
            <a:srgbClr val="2FBF71"/>
          </a:solidFill>
          <a:ln/>
        </p:spPr>
      </p:sp>
      <p:sp>
        <p:nvSpPr>
          <p:cNvPr id="11" name="Text 9"/>
          <p:cNvSpPr/>
          <p:nvPr/>
        </p:nvSpPr>
        <p:spPr>
          <a:xfrm>
            <a:off x="566928" y="23408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2" name="Text 10"/>
          <p:cNvSpPr/>
          <p:nvPr/>
        </p:nvSpPr>
        <p:spPr>
          <a:xfrm>
            <a:off x="932688" y="22585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CSV and JSON export for the security report</a:t>
            </a:r>
            <a:endParaRPr lang="en-US" sz="1250" dirty="0"/>
          </a:p>
        </p:txBody>
      </p:sp>
      <p:sp>
        <p:nvSpPr>
          <p:cNvPr id="13" name="Shape 11"/>
          <p:cNvSpPr/>
          <p:nvPr/>
        </p:nvSpPr>
        <p:spPr>
          <a:xfrm>
            <a:off x="6281928" y="2340864"/>
            <a:ext cx="237744" cy="237744"/>
          </a:xfrm>
          <a:prstGeom prst="ellipse">
            <a:avLst/>
          </a:prstGeom>
          <a:solidFill>
            <a:srgbClr val="2FBF71"/>
          </a:solidFill>
          <a:ln/>
        </p:spPr>
      </p:sp>
      <p:sp>
        <p:nvSpPr>
          <p:cNvPr id="14" name="Text 12"/>
          <p:cNvSpPr/>
          <p:nvPr/>
        </p:nvSpPr>
        <p:spPr>
          <a:xfrm>
            <a:off x="6281928" y="23408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Text 13"/>
          <p:cNvSpPr/>
          <p:nvPr/>
        </p:nvSpPr>
        <p:spPr>
          <a:xfrm>
            <a:off x="6647688" y="22585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Email alerts triggered automatically for suspicious activity</a:t>
            </a:r>
            <a:endParaRPr lang="en-US" sz="1250" dirty="0"/>
          </a:p>
        </p:txBody>
      </p:sp>
      <p:sp>
        <p:nvSpPr>
          <p:cNvPr id="16" name="Shape 14"/>
          <p:cNvSpPr/>
          <p:nvPr/>
        </p:nvSpPr>
        <p:spPr>
          <a:xfrm>
            <a:off x="566928" y="3026664"/>
            <a:ext cx="237744" cy="237744"/>
          </a:xfrm>
          <a:prstGeom prst="ellipse">
            <a:avLst/>
          </a:prstGeom>
          <a:solidFill>
            <a:srgbClr val="2FBF71"/>
          </a:solidFill>
          <a:ln/>
        </p:spPr>
      </p:sp>
      <p:sp>
        <p:nvSpPr>
          <p:cNvPr id="17" name="Text 15"/>
          <p:cNvSpPr/>
          <p:nvPr/>
        </p:nvSpPr>
        <p:spPr>
          <a:xfrm>
            <a:off x="566928" y="30266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8" name="Text 16"/>
          <p:cNvSpPr/>
          <p:nvPr/>
        </p:nvSpPr>
        <p:spPr>
          <a:xfrm>
            <a:off x="932688" y="29443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IP geolocation to show where attacks originate</a:t>
            </a:r>
            <a:endParaRPr lang="en-US" sz="1250" dirty="0"/>
          </a:p>
        </p:txBody>
      </p:sp>
      <p:sp>
        <p:nvSpPr>
          <p:cNvPr id="19" name="Shape 17"/>
          <p:cNvSpPr/>
          <p:nvPr/>
        </p:nvSpPr>
        <p:spPr>
          <a:xfrm>
            <a:off x="6281928" y="3026664"/>
            <a:ext cx="237744" cy="237744"/>
          </a:xfrm>
          <a:prstGeom prst="ellipse">
            <a:avLst/>
          </a:prstGeom>
          <a:solidFill>
            <a:srgbClr val="2FBF71"/>
          </a:solidFill>
          <a:ln/>
        </p:spPr>
      </p:sp>
      <p:sp>
        <p:nvSpPr>
          <p:cNvPr id="20" name="Text 18"/>
          <p:cNvSpPr/>
          <p:nvPr/>
        </p:nvSpPr>
        <p:spPr>
          <a:xfrm>
            <a:off x="6281928" y="30266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1" name="Text 19"/>
          <p:cNvSpPr/>
          <p:nvPr/>
        </p:nvSpPr>
        <p:spPr>
          <a:xfrm>
            <a:off x="6647688" y="29443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Graphical security statistics / dashboard view</a:t>
            </a:r>
            <a:endParaRPr lang="en-US" sz="1250" dirty="0"/>
          </a:p>
        </p:txBody>
      </p:sp>
      <p:sp>
        <p:nvSpPr>
          <p:cNvPr id="22" name="Shape 20"/>
          <p:cNvSpPr/>
          <p:nvPr/>
        </p:nvSpPr>
        <p:spPr>
          <a:xfrm>
            <a:off x="566928" y="3712464"/>
            <a:ext cx="237744" cy="237744"/>
          </a:xfrm>
          <a:prstGeom prst="ellipse">
            <a:avLst/>
          </a:prstGeom>
          <a:solidFill>
            <a:srgbClr val="2FBF71"/>
          </a:solidFill>
          <a:ln/>
        </p:spPr>
      </p:sp>
      <p:sp>
        <p:nvSpPr>
          <p:cNvPr id="23" name="Text 21"/>
          <p:cNvSpPr/>
          <p:nvPr/>
        </p:nvSpPr>
        <p:spPr>
          <a:xfrm>
            <a:off x="566928" y="37124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24" name="Text 22"/>
          <p:cNvSpPr/>
          <p:nvPr/>
        </p:nvSpPr>
        <p:spPr>
          <a:xfrm>
            <a:off x="932688" y="36301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Additional CLI options for finer-grained control</a:t>
            </a:r>
            <a:endParaRPr lang="en-US" sz="1250" dirty="0"/>
          </a:p>
        </p:txBody>
      </p:sp>
      <p:sp>
        <p:nvSpPr>
          <p:cNvPr id="25" name="Shape 23"/>
          <p:cNvSpPr/>
          <p:nvPr/>
        </p:nvSpPr>
        <p:spPr>
          <a:xfrm>
            <a:off x="6281928" y="3712464"/>
            <a:ext cx="237744" cy="237744"/>
          </a:xfrm>
          <a:prstGeom prst="ellipse">
            <a:avLst/>
          </a:prstGeom>
          <a:solidFill>
            <a:srgbClr val="2FBF71"/>
          </a:solidFill>
          <a:ln/>
        </p:spPr>
      </p:sp>
      <p:sp>
        <p:nvSpPr>
          <p:cNvPr id="26" name="Text 24"/>
          <p:cNvSpPr/>
          <p:nvPr/>
        </p:nvSpPr>
        <p:spPr>
          <a:xfrm>
            <a:off x="6281928" y="37124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a:t>
            </a:r>
            <a:endParaRPr lang="en-US" sz="1050" dirty="0"/>
          </a:p>
        </p:txBody>
      </p:sp>
      <p:sp>
        <p:nvSpPr>
          <p:cNvPr id="27" name="Text 25"/>
          <p:cNvSpPr/>
          <p:nvPr/>
        </p:nvSpPr>
        <p:spPr>
          <a:xfrm>
            <a:off x="6647688" y="3630168"/>
            <a:ext cx="4983480" cy="548640"/>
          </a:xfrm>
          <a:prstGeom prst="rect">
            <a:avLst/>
          </a:prstGeom>
          <a:noFill/>
          <a:ln/>
        </p:spPr>
        <p:txBody>
          <a:bodyPr wrap="square" lIns="0" tIns="0" rIns="0" bIns="0" rtlCol="0" anchor="ctr"/>
          <a:lstStyle/>
          <a:p>
            <a:pPr indent="0" marL="0">
              <a:buNone/>
            </a:pPr>
            <a:r>
              <a:rPr lang="en-US" sz="1250" dirty="0">
                <a:solidFill>
                  <a:srgbClr val="16232E"/>
                </a:solidFill>
                <a:latin typeface="Calibri" pitchFamily="34" charset="0"/>
                <a:ea typeface="Calibri" pitchFamily="34" charset="-122"/>
                <a:cs typeface="Calibri" pitchFamily="34" charset="-120"/>
              </a:rPr>
              <a:t>Detection of more Linux security event types</a:t>
            </a:r>
            <a:endParaRPr lang="en-US" sz="1250" dirty="0"/>
          </a:p>
        </p:txBody>
      </p:sp>
      <p:sp>
        <p:nvSpPr>
          <p:cNvPr id="28" name="Text 26"/>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Linux Security Log Analyzer</a:t>
            </a:r>
            <a:endParaRPr lang="en-US" sz="900" dirty="0"/>
          </a:p>
        </p:txBody>
      </p:sp>
      <p:sp>
        <p:nvSpPr>
          <p:cNvPr id="29" name="Text 27"/>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566928" y="640080"/>
            <a:ext cx="5486400" cy="320040"/>
          </a:xfrm>
          <a:prstGeom prst="rect">
            <a:avLst/>
          </a:prstGeom>
          <a:noFill/>
          <a:ln/>
        </p:spPr>
        <p:txBody>
          <a:bodyPr wrap="square" lIns="0" tIns="0" rIns="0" bIns="0" rtlCol="0" anchor="ctr"/>
          <a:lstStyle/>
          <a:p>
            <a:pPr indent="0" marL="0">
              <a:buNone/>
            </a:pPr>
            <a:r>
              <a:rPr lang="en-US" sz="1200" b="1" spc="200" kern="0" dirty="0">
                <a:solidFill>
                  <a:srgbClr val="2FBF71"/>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1051560"/>
            <a:ext cx="8229600" cy="155448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A Practical Step Toward</a:t>
            </a:r>
            <a:endParaRPr lang="en-US" sz="3400" dirty="0"/>
          </a:p>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Smarter Linux Security</a:t>
            </a:r>
            <a:endParaRPr lang="en-US" sz="3400" dirty="0"/>
          </a:p>
        </p:txBody>
      </p:sp>
      <p:sp>
        <p:nvSpPr>
          <p:cNvPr id="4" name="Text 2"/>
          <p:cNvSpPr/>
          <p:nvPr/>
        </p:nvSpPr>
        <p:spPr>
          <a:xfrm>
            <a:off x="566928" y="2743200"/>
            <a:ext cx="7680960" cy="4114800"/>
          </a:xfrm>
          <a:prstGeom prst="rect">
            <a:avLst/>
          </a:prstGeom>
          <a:noFill/>
          <a:ln/>
        </p:spPr>
        <p:txBody>
          <a:bodyPr wrap="square" lIns="0" tIns="0" rIns="0" bIns="0" rtlCol="0" anchor="t"/>
          <a:lstStyle/>
          <a:p>
            <a:pPr marL="228600" indent="-228600">
              <a:spcAft>
                <a:spcPts val="1200"/>
              </a:spcAft>
              <a:buSzPct val="100000"/>
              <a:buChar char="•"/>
            </a:pPr>
            <a:r>
              <a:rPr lang="en-US" sz="1400" dirty="0">
                <a:solidFill>
                  <a:srgbClr val="D6E2E7"/>
                </a:solidFill>
                <a:latin typeface="Calibri" pitchFamily="34" charset="0"/>
                <a:ea typeface="Calibri" pitchFamily="34" charset="-122"/>
                <a:cs typeface="Calibri" pitchFamily="34" charset="-120"/>
              </a:rPr>
              <a:t>Delivers a working, modular Python tool that turns raw Linux auth logs into actionable security reports.</a:t>
            </a:r>
            <a:endParaRPr lang="en-US" sz="1400" dirty="0"/>
          </a:p>
          <a:p>
            <a:pPr marL="228600" indent="-228600">
              <a:spcAft>
                <a:spcPts val="1200"/>
              </a:spcAft>
              <a:buSzPct val="100000"/>
              <a:buChar char="•"/>
            </a:pPr>
            <a:r>
              <a:rPr lang="en-US" sz="1400" dirty="0">
                <a:solidFill>
                  <a:srgbClr val="D6E2E7"/>
                </a:solidFill>
                <a:latin typeface="Calibri" pitchFamily="34" charset="0"/>
                <a:ea typeface="Calibri" pitchFamily="34" charset="-122"/>
                <a:cs typeface="Calibri" pitchFamily="34" charset="-120"/>
              </a:rPr>
              <a:t>Demonstrates practical skills in regex-based parsing, file handling, CLI design, and security-focused logic.</a:t>
            </a:r>
            <a:endParaRPr lang="en-US" sz="1400" dirty="0"/>
          </a:p>
          <a:p>
            <a:pPr marL="228600" indent="-228600">
              <a:spcAft>
                <a:spcPts val="1200"/>
              </a:spcAft>
              <a:buSzPct val="100000"/>
              <a:buChar char="•"/>
            </a:pPr>
            <a:r>
              <a:rPr lang="en-US" sz="1400" dirty="0">
                <a:solidFill>
                  <a:srgbClr val="D6E2E7"/>
                </a:solidFill>
                <a:latin typeface="Calibri" pitchFamily="34" charset="0"/>
                <a:ea typeface="Calibri" pitchFamily="34" charset="-122"/>
                <a:cs typeface="Calibri" pitchFamily="34" charset="-120"/>
              </a:rPr>
              <a:t>Built as a portfolio and learning project — with a clear, realistic roadmap for future growth.</a:t>
            </a:r>
            <a:endParaRPr lang="en-US" sz="1400" dirty="0"/>
          </a:p>
        </p:txBody>
      </p:sp>
      <p:sp>
        <p:nvSpPr>
          <p:cNvPr id="5" name="Shape 3"/>
          <p:cNvSpPr/>
          <p:nvPr/>
        </p:nvSpPr>
        <p:spPr>
          <a:xfrm>
            <a:off x="566928" y="4892040"/>
            <a:ext cx="7498080" cy="0"/>
          </a:xfrm>
          <a:prstGeom prst="line">
            <a:avLst/>
          </a:prstGeom>
          <a:noFill/>
          <a:ln w="12700">
            <a:solidFill>
              <a:srgbClr val="223347"/>
            </a:solidFill>
            <a:prstDash val="solid"/>
          </a:ln>
        </p:spPr>
      </p:sp>
      <p:sp>
        <p:nvSpPr>
          <p:cNvPr id="6" name="Text 4"/>
          <p:cNvSpPr/>
          <p:nvPr/>
        </p:nvSpPr>
        <p:spPr>
          <a:xfrm>
            <a:off x="566928" y="5074920"/>
            <a:ext cx="822960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Thank you — Questions?
</a:t>
            </a:r>
            <a:endParaRPr lang="en-US" sz="2000" dirty="0"/>
          </a:p>
          <a:p>
            <a:pPr indent="0" marL="0">
              <a:buNone/>
            </a:pPr>
            <a:r>
              <a:rPr lang="en-US" sz="1300" dirty="0">
                <a:solidFill>
                  <a:srgbClr val="8FA3AE"/>
                </a:solidFill>
                <a:latin typeface="Calibri" pitchFamily="34" charset="0"/>
                <a:ea typeface="Calibri" pitchFamily="34" charset="-122"/>
                <a:cs typeface="Calibri" pitchFamily="34" charset="-120"/>
              </a:rPr>
              <a:t>K. Venkata Dhanush   •   github.com/kanasanidhanush7-dev</a:t>
            </a:r>
            <a:endParaRPr lang="en-US" sz="2000" dirty="0"/>
          </a:p>
        </p:txBody>
      </p:sp>
      <p:sp>
        <p:nvSpPr>
          <p:cNvPr id="7" name="Shape 5"/>
          <p:cNvSpPr/>
          <p:nvPr/>
        </p:nvSpPr>
        <p:spPr>
          <a:xfrm>
            <a:off x="9189720" y="2651760"/>
            <a:ext cx="2423160" cy="2926080"/>
          </a:xfrm>
          <a:prstGeom prst="roundRect">
            <a:avLst>
              <a:gd name="adj" fmla="val 3774"/>
            </a:avLst>
          </a:prstGeom>
          <a:solidFill>
            <a:srgbClr val="16232E"/>
          </a:solidFill>
          <a:ln w="12700">
            <a:solidFill>
              <a:srgbClr val="223347"/>
            </a:solidFill>
            <a:prstDash val="solid"/>
          </a:ln>
        </p:spPr>
      </p:sp>
      <p:sp>
        <p:nvSpPr>
          <p:cNvPr id="8" name="Text 6"/>
          <p:cNvSpPr/>
          <p:nvPr/>
        </p:nvSpPr>
        <p:spPr>
          <a:xfrm>
            <a:off x="9189720" y="3291840"/>
            <a:ext cx="2423160" cy="1371600"/>
          </a:xfrm>
          <a:prstGeom prst="rect">
            <a:avLst/>
          </a:prstGeom>
          <a:noFill/>
          <a:ln/>
        </p:spPr>
        <p:txBody>
          <a:bodyPr wrap="square" lIns="0" tIns="0" rIns="0" bIns="0" rtlCol="0" anchor="ctr"/>
          <a:lstStyle/>
          <a:p>
            <a:pPr algn="ctr" indent="0" marL="0">
              <a:buNone/>
            </a:pPr>
            <a:r>
              <a:rPr lang="en-US" sz="6000" dirty="0">
                <a:solidFill>
                  <a:srgbClr val="000000"/>
                </a:solidFill>
              </a:rPr>
              <a:t>🛡</a:t>
            </a:r>
            <a:endParaRPr lang="en-US" sz="6000" dirty="0"/>
          </a:p>
        </p:txBody>
      </p:sp>
      <p:sp>
        <p:nvSpPr>
          <p:cNvPr id="9" name="Text 7"/>
          <p:cNvSpPr/>
          <p:nvPr/>
        </p:nvSpPr>
        <p:spPr>
          <a:xfrm>
            <a:off x="9189720" y="4617720"/>
            <a:ext cx="2423160" cy="731520"/>
          </a:xfrm>
          <a:prstGeom prst="rect">
            <a:avLst/>
          </a:prstGeom>
          <a:noFill/>
          <a:ln/>
        </p:spPr>
        <p:txBody>
          <a:bodyPr wrap="square" lIns="0" tIns="0" rIns="0" bIns="0" rtlCol="0" anchor="ctr"/>
          <a:lstStyle/>
          <a:p>
            <a:pPr algn="ctr" indent="0" marL="0">
              <a:buNone/>
            </a:pPr>
            <a:r>
              <a:rPr lang="en-US" sz="1200" dirty="0">
                <a:solidFill>
                  <a:srgbClr val="AEE8C6"/>
                </a:solidFill>
                <a:latin typeface="Calibri" pitchFamily="34" charset="0"/>
                <a:ea typeface="Calibri" pitchFamily="34" charset="-122"/>
                <a:cs typeface="Calibri" pitchFamily="34" charset="-120"/>
              </a:rPr>
              <a:t>Linux • Python</a:t>
            </a:r>
            <a:endParaRPr lang="en-US" sz="1200" dirty="0"/>
          </a:p>
          <a:p>
            <a:pPr algn="ctr" indent="0" marL="0">
              <a:buNone/>
            </a:pPr>
            <a:r>
              <a:rPr lang="en-US" sz="1200" dirty="0">
                <a:solidFill>
                  <a:srgbClr val="AEE8C6"/>
                </a:solidFill>
                <a:latin typeface="Calibri" pitchFamily="34" charset="0"/>
                <a:ea typeface="Calibri" pitchFamily="34" charset="-122"/>
                <a:cs typeface="Calibri" pitchFamily="34" charset="-120"/>
              </a:rPr>
              <a:t>Security</a:t>
            </a:r>
            <a:endParaRPr lang="en-US" sz="1200" dirty="0"/>
          </a:p>
        </p:txBody>
      </p:sp>
      <p:sp>
        <p:nvSpPr>
          <p:cNvPr id="10" name="Text 8"/>
          <p:cNvSpPr/>
          <p:nvPr/>
        </p:nvSpPr>
        <p:spPr>
          <a:xfrm>
            <a:off x="548640" y="6537960"/>
            <a:ext cx="5486400" cy="274320"/>
          </a:xfrm>
          <a:prstGeom prst="rect">
            <a:avLst/>
          </a:prstGeom>
          <a:noFill/>
          <a:ln/>
        </p:spPr>
        <p:txBody>
          <a:bodyPr wrap="square" lIns="0" tIns="0" rIns="0" bIns="0" rtlCol="0" anchor="ctr"/>
          <a:lstStyle/>
          <a:p>
            <a:pPr indent="0" marL="0">
              <a:buNone/>
            </a:pPr>
            <a:r>
              <a:rPr lang="en-US" sz="900" dirty="0">
                <a:solidFill>
                  <a:srgbClr val="8FA3AE"/>
                </a:solidFill>
                <a:latin typeface="Calibri" pitchFamily="34" charset="0"/>
                <a:ea typeface="Calibri" pitchFamily="34" charset="-122"/>
                <a:cs typeface="Calibri" pitchFamily="34" charset="-120"/>
              </a:rPr>
              <a:t>Linux Security Log Analyzer</a:t>
            </a:r>
            <a:endParaRPr lang="en-US" sz="900" dirty="0"/>
          </a:p>
        </p:txBody>
      </p:sp>
      <p:sp>
        <p:nvSpPr>
          <p:cNvPr id="11" name="Text 9"/>
          <p:cNvSpPr/>
          <p:nvPr/>
        </p:nvSpPr>
        <p:spPr>
          <a:xfrm>
            <a:off x="11064240" y="6537960"/>
            <a:ext cx="548640" cy="274320"/>
          </a:xfrm>
          <a:prstGeom prst="rect">
            <a:avLst/>
          </a:prstGeom>
          <a:noFill/>
          <a:ln/>
        </p:spPr>
        <p:txBody>
          <a:bodyPr wrap="square" lIns="0" tIns="0" rIns="0" bIns="0" rtlCol="0" anchor="ctr"/>
          <a:lstStyle/>
          <a:p>
            <a:pPr algn="r" indent="0" marL="0">
              <a:buNone/>
            </a:pPr>
            <a:r>
              <a:rPr lang="en-US" sz="900" dirty="0">
                <a:solidFill>
                  <a:srgbClr val="8FA3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2026-08-13T11:56:48Z</dcterms:created>
  <dcterms:modified xsi:type="dcterms:W3CDTF">2026-08-13T11:56:48Z</dcterms:modified>
</cp:coreProperties>
</file>